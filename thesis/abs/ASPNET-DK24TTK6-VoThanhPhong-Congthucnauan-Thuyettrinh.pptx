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Lora" pitchFamily="2" charset="0"/>
      <p:regular r:id="rId15"/>
      <p:bold r:id="rId16"/>
      <p:italic r:id="rId17"/>
      <p:boldItalic r:id="rId18"/>
    </p:embeddedFont>
    <p:embeddedFont>
      <p:font typeface="Plus Jakarta Sans"/>
      <p:bold r:id="rId1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2" name="Rectangle 1"/>
          <p:cNvSpPr/>
          <p:nvPr/>
        </p:nvSpPr>
        <p:spPr>
          <a:xfrm>
            <a:off x="609600" y="4363342"/>
            <a:ext cx="762000" cy="190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6705600" y="0"/>
            <a:ext cx="5486400" cy="6858000"/>
          </a:xfrm>
          <a:prstGeom prst="rect">
            <a:avLst/>
          </a:prstGeom>
        </p:spPr>
      </p:pic>
      <p:sp>
        <p:nvSpPr>
          <p:cNvPr id="4" name="TextBox 3"/>
          <p:cNvSpPr txBox="1"/>
          <p:nvPr/>
        </p:nvSpPr>
        <p:spPr>
          <a:xfrm>
            <a:off x="609600" y="856357"/>
            <a:ext cx="3127203" cy="184666"/>
          </a:xfrm>
          <a:prstGeom prst="rect">
            <a:avLst/>
          </a:prstGeom>
          <a:noFill/>
        </p:spPr>
        <p:txBody>
          <a:bodyPr wrap="none" lIns="0" tIns="0" rIns="0" bIns="0" anchor="t">
            <a:spAutoFit/>
          </a:bodyPr>
          <a:lstStyle/>
          <a:p>
            <a:pPr algn="l"/>
            <a:r>
              <a:rPr sz="1200" b="1" i="0" u="none" dirty="0">
                <a:solidFill>
                  <a:srgbClr val="D97706"/>
                </a:solidFill>
                <a:latin typeface="Plus Jakarta Sans"/>
              </a:rPr>
              <a:t>BÁO CÁO ĐỒ ÁN </a:t>
            </a:r>
            <a:r>
              <a:rPr lang="vi-VN" sz="1200" b="1" dirty="0">
                <a:solidFill>
                  <a:srgbClr val="D97706"/>
                </a:solidFill>
                <a:latin typeface="Plus Jakarta Sans"/>
              </a:rPr>
              <a:t>HỌC PHẦN CHUYÊN ĐỀ ASP.NET</a:t>
            </a:r>
            <a:endParaRPr sz="1200" b="1" i="0" u="none" dirty="0">
              <a:solidFill>
                <a:srgbClr val="D97706"/>
              </a:solidFill>
              <a:latin typeface="Plus Jakarta Sans"/>
            </a:endParaRPr>
          </a:p>
        </p:txBody>
      </p:sp>
      <p:sp>
        <p:nvSpPr>
          <p:cNvPr id="5" name="TextBox 4"/>
          <p:cNvSpPr txBox="1"/>
          <p:nvPr/>
        </p:nvSpPr>
        <p:spPr>
          <a:xfrm>
            <a:off x="609600" y="1284982"/>
            <a:ext cx="5860732" cy="2078005"/>
          </a:xfrm>
          <a:prstGeom prst="rect">
            <a:avLst/>
          </a:prstGeom>
          <a:noFill/>
        </p:spPr>
        <p:txBody>
          <a:bodyPr wrap="square" lIns="0" tIns="0" rIns="0" bIns="0" anchor="t">
            <a:spAutoFit/>
          </a:bodyPr>
          <a:lstStyle/>
          <a:p>
            <a:pPr algn="l">
              <a:lnSpc>
                <a:spcPts val="5459"/>
              </a:lnSpc>
            </a:pPr>
            <a:r>
              <a:rPr lang="vi-VN" sz="4200" b="1" dirty="0">
                <a:solidFill>
                  <a:srgbClr val="FDFBF7"/>
                </a:solidFill>
                <a:latin typeface="Lora"/>
              </a:rPr>
              <a:t>Xây Dựng</a:t>
            </a:r>
            <a:r>
              <a:rPr sz="4200" b="1" i="0" u="none" dirty="0">
                <a:solidFill>
                  <a:srgbClr val="FDFBF7"/>
                </a:solidFill>
                <a:latin typeface="Lora"/>
              </a:rPr>
              <a:t> Website Chia </a:t>
            </a:r>
            <a:r>
              <a:rPr sz="4200" b="1" i="0" u="none" dirty="0" err="1">
                <a:solidFill>
                  <a:srgbClr val="FDFBF7"/>
                </a:solidFill>
                <a:latin typeface="Lora"/>
              </a:rPr>
              <a:t>Sẻ</a:t>
            </a:r>
            <a:r>
              <a:rPr sz="4200" b="1" i="0" u="none" dirty="0">
                <a:solidFill>
                  <a:srgbClr val="FDFBF7"/>
                </a:solidFill>
                <a:latin typeface="Lora"/>
              </a:rPr>
              <a:t> Công </a:t>
            </a:r>
            <a:r>
              <a:rPr sz="4200" b="1" i="0" u="none" dirty="0" err="1">
                <a:solidFill>
                  <a:srgbClr val="FDFBF7"/>
                </a:solidFill>
                <a:latin typeface="Lora"/>
              </a:rPr>
              <a:t>Thức</a:t>
            </a:r>
            <a:r>
              <a:rPr sz="4200" b="1" i="0" u="none" dirty="0">
                <a:solidFill>
                  <a:srgbClr val="FDFBF7"/>
                </a:solidFill>
                <a:latin typeface="Lora"/>
              </a:rPr>
              <a:t> </a:t>
            </a:r>
            <a:r>
              <a:rPr sz="4200" b="1" i="0" u="none" dirty="0" err="1">
                <a:solidFill>
                  <a:srgbClr val="FDFBF7"/>
                </a:solidFill>
                <a:latin typeface="Lora"/>
              </a:rPr>
              <a:t>Nấu</a:t>
            </a:r>
            <a:r>
              <a:rPr sz="4200" b="1" i="0" u="none" dirty="0">
                <a:solidFill>
                  <a:srgbClr val="FDFBF7"/>
                </a:solidFill>
                <a:latin typeface="Lora"/>
              </a:rPr>
              <a:t> </a:t>
            </a:r>
            <a:r>
              <a:rPr sz="4200" b="1" i="0" u="none" dirty="0" err="1">
                <a:solidFill>
                  <a:srgbClr val="FDFBF7"/>
                </a:solidFill>
                <a:latin typeface="Lora"/>
              </a:rPr>
              <a:t>Ăn</a:t>
            </a:r>
            <a:endParaRPr sz="4200" b="1" i="0" u="none" dirty="0">
              <a:solidFill>
                <a:srgbClr val="FDFBF7"/>
              </a:solidFill>
              <a:latin typeface="Lora"/>
            </a:endParaRPr>
          </a:p>
        </p:txBody>
      </p:sp>
      <p:sp>
        <p:nvSpPr>
          <p:cNvPr id="6" name="TextBox 5"/>
          <p:cNvSpPr txBox="1"/>
          <p:nvPr/>
        </p:nvSpPr>
        <p:spPr>
          <a:xfrm>
            <a:off x="609600" y="4915792"/>
            <a:ext cx="1666875" cy="200025"/>
          </a:xfrm>
          <a:prstGeom prst="rect">
            <a:avLst/>
          </a:prstGeom>
          <a:noFill/>
        </p:spPr>
        <p:txBody>
          <a:bodyPr wrap="none" lIns="0" tIns="0" rIns="0" bIns="0" anchor="t">
            <a:spAutoFit/>
          </a:bodyPr>
          <a:lstStyle/>
          <a:p>
            <a:pPr algn="l"/>
            <a:r>
              <a:rPr sz="1200" b="0" i="0" u="none">
                <a:solidFill>
                  <a:srgbClr val="99F6E4"/>
                </a:solidFill>
                <a:latin typeface="Plus Jakarta Sans"/>
              </a:rPr>
              <a:t>THỰC HIỆN BỞI:</a:t>
            </a:r>
          </a:p>
        </p:txBody>
      </p:sp>
      <p:sp>
        <p:nvSpPr>
          <p:cNvPr id="7" name="TextBox 6"/>
          <p:cNvSpPr txBox="1"/>
          <p:nvPr/>
        </p:nvSpPr>
        <p:spPr>
          <a:xfrm>
            <a:off x="2171700" y="4839592"/>
            <a:ext cx="2190750" cy="285750"/>
          </a:xfrm>
          <a:prstGeom prst="rect">
            <a:avLst/>
          </a:prstGeom>
          <a:noFill/>
        </p:spPr>
        <p:txBody>
          <a:bodyPr wrap="none" lIns="0" tIns="0" rIns="0" bIns="0" anchor="t">
            <a:spAutoFit/>
          </a:bodyPr>
          <a:lstStyle/>
          <a:p>
            <a:pPr algn="l"/>
            <a:r>
              <a:rPr sz="1800" b="1" i="0" u="none">
                <a:solidFill>
                  <a:srgbClr val="FDFBF7"/>
                </a:solidFill>
                <a:latin typeface="Plus Jakarta Sans"/>
              </a:rPr>
              <a:t>Võ Thanh Phong</a:t>
            </a:r>
          </a:p>
        </p:txBody>
      </p:sp>
      <p:sp>
        <p:nvSpPr>
          <p:cNvPr id="8" name="TextBox 7"/>
          <p:cNvSpPr txBox="1"/>
          <p:nvPr/>
        </p:nvSpPr>
        <p:spPr>
          <a:xfrm>
            <a:off x="609600" y="5353942"/>
            <a:ext cx="1666875" cy="200025"/>
          </a:xfrm>
          <a:prstGeom prst="rect">
            <a:avLst/>
          </a:prstGeom>
          <a:noFill/>
        </p:spPr>
        <p:txBody>
          <a:bodyPr wrap="none" lIns="0" tIns="0" rIns="0" bIns="0" anchor="t">
            <a:spAutoFit/>
          </a:bodyPr>
          <a:lstStyle/>
          <a:p>
            <a:pPr algn="l"/>
            <a:r>
              <a:rPr sz="1200" b="0" i="0" u="none">
                <a:solidFill>
                  <a:srgbClr val="99F6E4"/>
                </a:solidFill>
                <a:latin typeface="Plus Jakarta Sans"/>
              </a:rPr>
              <a:t>MÃ SINH VIÊN:</a:t>
            </a:r>
          </a:p>
        </p:txBody>
      </p:sp>
      <p:sp>
        <p:nvSpPr>
          <p:cNvPr id="9" name="TextBox 8"/>
          <p:cNvSpPr txBox="1"/>
          <p:nvPr/>
        </p:nvSpPr>
        <p:spPr>
          <a:xfrm>
            <a:off x="2171700" y="5277742"/>
            <a:ext cx="3738562" cy="285750"/>
          </a:xfrm>
          <a:prstGeom prst="rect">
            <a:avLst/>
          </a:prstGeom>
          <a:noFill/>
        </p:spPr>
        <p:txBody>
          <a:bodyPr wrap="none" lIns="0" tIns="0" rIns="0" bIns="0" anchor="t">
            <a:spAutoFit/>
          </a:bodyPr>
          <a:lstStyle/>
          <a:p>
            <a:pPr algn="l"/>
            <a:r>
              <a:rPr sz="1800" b="1" i="0" u="none">
                <a:solidFill>
                  <a:srgbClr val="FDFBF7"/>
                </a:solidFill>
                <a:latin typeface="Plus Jakarta Sans"/>
              </a:rPr>
              <a:t>170124705 - Lớp DK24TTK6</a:t>
            </a:r>
          </a:p>
        </p:txBody>
      </p:sp>
      <p:sp>
        <p:nvSpPr>
          <p:cNvPr id="10" name="TextBox 9"/>
          <p:cNvSpPr txBox="1"/>
          <p:nvPr/>
        </p:nvSpPr>
        <p:spPr>
          <a:xfrm>
            <a:off x="609600" y="5792092"/>
            <a:ext cx="1666875" cy="200025"/>
          </a:xfrm>
          <a:prstGeom prst="rect">
            <a:avLst/>
          </a:prstGeom>
          <a:noFill/>
        </p:spPr>
        <p:txBody>
          <a:bodyPr wrap="none" lIns="0" tIns="0" rIns="0" bIns="0" anchor="t">
            <a:spAutoFit/>
          </a:bodyPr>
          <a:lstStyle/>
          <a:p>
            <a:pPr algn="l"/>
            <a:r>
              <a:rPr sz="1200" b="0" i="0" u="none">
                <a:solidFill>
                  <a:srgbClr val="99F6E4"/>
                </a:solidFill>
                <a:latin typeface="Plus Jakarta Sans"/>
              </a:rPr>
              <a:t>HƯỚNG DẪN:</a:t>
            </a:r>
          </a:p>
        </p:txBody>
      </p:sp>
      <p:sp>
        <p:nvSpPr>
          <p:cNvPr id="11" name="TextBox 10"/>
          <p:cNvSpPr txBox="1"/>
          <p:nvPr/>
        </p:nvSpPr>
        <p:spPr>
          <a:xfrm>
            <a:off x="2171700" y="5715892"/>
            <a:ext cx="2928937" cy="285750"/>
          </a:xfrm>
          <a:prstGeom prst="rect">
            <a:avLst/>
          </a:prstGeom>
          <a:noFill/>
        </p:spPr>
        <p:txBody>
          <a:bodyPr wrap="none" lIns="0" tIns="0" rIns="0" bIns="0" anchor="t">
            <a:spAutoFit/>
          </a:bodyPr>
          <a:lstStyle/>
          <a:p>
            <a:pPr algn="l"/>
            <a:r>
              <a:rPr sz="1800" b="1" i="0" u="none">
                <a:solidFill>
                  <a:srgbClr val="FDFBF7"/>
                </a:solidFill>
                <a:latin typeface="Plus Jakarta Sans"/>
              </a:rPr>
              <a:t>TS. Nguyễn Nhứt Lam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ounded Rectangle 1"/>
          <p:cNvSpPr/>
          <p:nvPr/>
        </p:nvSpPr>
        <p:spPr>
          <a:xfrm>
            <a:off x="609600" y="1457325"/>
            <a:ext cx="457200" cy="457200"/>
          </a:xfrm>
          <a:prstGeom prst="roundRect">
            <a:avLst>
              <a:gd name="adj" fmla="val 50000"/>
            </a:avLst>
          </a:prstGeom>
          <a:noFill/>
          <a:ln w="19050">
            <a:solidFill>
              <a:srgbClr val="064E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742950" y="1590675"/>
            <a:ext cx="190500" cy="190500"/>
          </a:xfrm>
          <a:prstGeom prst="rect">
            <a:avLst/>
          </a:prstGeom>
        </p:spPr>
      </p:pic>
      <p:sp>
        <p:nvSpPr>
          <p:cNvPr id="4" name="TextBox 3"/>
          <p:cNvSpPr txBox="1"/>
          <p:nvPr/>
        </p:nvSpPr>
        <p:spPr>
          <a:xfrm>
            <a:off x="1371600" y="1395412"/>
            <a:ext cx="5063132" cy="581025"/>
          </a:xfrm>
          <a:prstGeom prst="rect">
            <a:avLst/>
          </a:prstGeom>
          <a:noFill/>
        </p:spPr>
        <p:txBody>
          <a:bodyPr wrap="none" lIns="0" tIns="0" rIns="0" bIns="0" anchor="t">
            <a:spAutoFit/>
          </a:bodyPr>
          <a:lstStyle/>
          <a:p>
            <a:pPr algn="l"/>
            <a:r>
              <a:rPr sz="3600" b="1" i="0" u="none">
                <a:solidFill>
                  <a:srgbClr val="064E3B"/>
                </a:solidFill>
                <a:latin typeface="Lora"/>
              </a:rPr>
              <a:t>Cấu Trúc Báo Cáo</a:t>
            </a:r>
          </a:p>
        </p:txBody>
      </p:sp>
      <p:sp>
        <p:nvSpPr>
          <p:cNvPr id="5" name="TextBox 4"/>
          <p:cNvSpPr txBox="1"/>
          <p:nvPr/>
        </p:nvSpPr>
        <p:spPr>
          <a:xfrm>
            <a:off x="609600" y="2586037"/>
            <a:ext cx="676275" cy="381000"/>
          </a:xfrm>
          <a:prstGeom prst="rect">
            <a:avLst/>
          </a:prstGeom>
          <a:noFill/>
        </p:spPr>
        <p:txBody>
          <a:bodyPr wrap="none" lIns="0" tIns="0" rIns="0" bIns="0" anchor="t">
            <a:spAutoFit/>
          </a:bodyPr>
          <a:lstStyle/>
          <a:p>
            <a:pPr algn="l">
              <a:lnSpc>
                <a:spcPts val="3000"/>
              </a:lnSpc>
            </a:pPr>
            <a:r>
              <a:rPr sz="3000" b="1" i="0" u="none">
                <a:solidFill>
                  <a:srgbClr val="D97706"/>
                </a:solidFill>
                <a:latin typeface="Lora"/>
              </a:rPr>
              <a:t>01</a:t>
            </a:r>
          </a:p>
        </p:txBody>
      </p:sp>
      <p:sp>
        <p:nvSpPr>
          <p:cNvPr id="6" name="TextBox 5"/>
          <p:cNvSpPr txBox="1"/>
          <p:nvPr/>
        </p:nvSpPr>
        <p:spPr>
          <a:xfrm>
            <a:off x="6286500" y="2586037"/>
            <a:ext cx="723900" cy="381000"/>
          </a:xfrm>
          <a:prstGeom prst="rect">
            <a:avLst/>
          </a:prstGeom>
          <a:noFill/>
        </p:spPr>
        <p:txBody>
          <a:bodyPr wrap="none" lIns="0" tIns="0" rIns="0" bIns="0" anchor="t">
            <a:spAutoFit/>
          </a:bodyPr>
          <a:lstStyle/>
          <a:p>
            <a:pPr algn="l">
              <a:lnSpc>
                <a:spcPts val="3000"/>
              </a:lnSpc>
            </a:pPr>
            <a:r>
              <a:rPr sz="3000" b="1" i="0" u="none">
                <a:solidFill>
                  <a:srgbClr val="D97706"/>
                </a:solidFill>
                <a:latin typeface="Lora"/>
              </a:rPr>
              <a:t>02</a:t>
            </a:r>
          </a:p>
        </p:txBody>
      </p:sp>
      <p:sp>
        <p:nvSpPr>
          <p:cNvPr id="7" name="TextBox 6"/>
          <p:cNvSpPr txBox="1"/>
          <p:nvPr/>
        </p:nvSpPr>
        <p:spPr>
          <a:xfrm>
            <a:off x="609600" y="4214812"/>
            <a:ext cx="733425" cy="381000"/>
          </a:xfrm>
          <a:prstGeom prst="rect">
            <a:avLst/>
          </a:prstGeom>
          <a:noFill/>
        </p:spPr>
        <p:txBody>
          <a:bodyPr wrap="none" lIns="0" tIns="0" rIns="0" bIns="0" anchor="t">
            <a:spAutoFit/>
          </a:bodyPr>
          <a:lstStyle/>
          <a:p>
            <a:pPr algn="l">
              <a:lnSpc>
                <a:spcPts val="3000"/>
              </a:lnSpc>
            </a:pPr>
            <a:r>
              <a:rPr sz="3000" b="1" i="0" u="none">
                <a:solidFill>
                  <a:srgbClr val="D97706"/>
                </a:solidFill>
                <a:latin typeface="Lora"/>
              </a:rPr>
              <a:t>03</a:t>
            </a:r>
          </a:p>
        </p:txBody>
      </p:sp>
      <p:sp>
        <p:nvSpPr>
          <p:cNvPr id="8" name="TextBox 7"/>
          <p:cNvSpPr txBox="1"/>
          <p:nvPr/>
        </p:nvSpPr>
        <p:spPr>
          <a:xfrm>
            <a:off x="6286500" y="4214812"/>
            <a:ext cx="733425" cy="381000"/>
          </a:xfrm>
          <a:prstGeom prst="rect">
            <a:avLst/>
          </a:prstGeom>
          <a:noFill/>
        </p:spPr>
        <p:txBody>
          <a:bodyPr wrap="none" lIns="0" tIns="0" rIns="0" bIns="0" anchor="t">
            <a:spAutoFit/>
          </a:bodyPr>
          <a:lstStyle/>
          <a:p>
            <a:pPr algn="l">
              <a:lnSpc>
                <a:spcPts val="3000"/>
              </a:lnSpc>
            </a:pPr>
            <a:r>
              <a:rPr sz="3000" b="1" i="0" u="none">
                <a:solidFill>
                  <a:srgbClr val="D97706"/>
                </a:solidFill>
                <a:latin typeface="Lora"/>
              </a:rPr>
              <a:t>04</a:t>
            </a:r>
          </a:p>
        </p:txBody>
      </p:sp>
      <p:sp>
        <p:nvSpPr>
          <p:cNvPr id="9" name="TextBox 8"/>
          <p:cNvSpPr txBox="1"/>
          <p:nvPr/>
        </p:nvSpPr>
        <p:spPr>
          <a:xfrm>
            <a:off x="1228725" y="2586037"/>
            <a:ext cx="5813226" cy="285750"/>
          </a:xfrm>
          <a:prstGeom prst="rect">
            <a:avLst/>
          </a:prstGeom>
          <a:noFill/>
        </p:spPr>
        <p:txBody>
          <a:bodyPr wrap="none" lIns="0" tIns="0" rIns="0" bIns="0" anchor="t">
            <a:spAutoFit/>
          </a:bodyPr>
          <a:lstStyle/>
          <a:p>
            <a:pPr algn="l"/>
            <a:r>
              <a:rPr sz="1800" b="1" i="0" u="none">
                <a:solidFill>
                  <a:srgbClr val="292524"/>
                </a:solidFill>
                <a:latin typeface="Plus Jakarta Sans"/>
              </a:rPr>
              <a:t>Bối Cảnh &amp; Vấn Đề (Problem Statement)</a:t>
            </a:r>
          </a:p>
        </p:txBody>
      </p:sp>
      <p:sp>
        <p:nvSpPr>
          <p:cNvPr id="10" name="TextBox 9"/>
          <p:cNvSpPr txBox="1"/>
          <p:nvPr/>
        </p:nvSpPr>
        <p:spPr>
          <a:xfrm>
            <a:off x="1228725" y="2986087"/>
            <a:ext cx="5536406"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Phân tích thực trạng quản lý thông tin ẩm thực.</a:t>
            </a:r>
          </a:p>
        </p:txBody>
      </p:sp>
      <p:sp>
        <p:nvSpPr>
          <p:cNvPr id="11" name="TextBox 10"/>
          <p:cNvSpPr txBox="1"/>
          <p:nvPr/>
        </p:nvSpPr>
        <p:spPr>
          <a:xfrm>
            <a:off x="1228725" y="3290887"/>
            <a:ext cx="5536406"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Các rào cản trong việc tra cứu và lưu trữ cá nhân.</a:t>
            </a:r>
          </a:p>
        </p:txBody>
      </p:sp>
      <p:sp>
        <p:nvSpPr>
          <p:cNvPr id="12" name="TextBox 11"/>
          <p:cNvSpPr txBox="1"/>
          <p:nvPr/>
        </p:nvSpPr>
        <p:spPr>
          <a:xfrm>
            <a:off x="6953250" y="2586037"/>
            <a:ext cx="4875609" cy="285750"/>
          </a:xfrm>
          <a:prstGeom prst="rect">
            <a:avLst/>
          </a:prstGeom>
          <a:noFill/>
        </p:spPr>
        <p:txBody>
          <a:bodyPr wrap="none" lIns="0" tIns="0" rIns="0" bIns="0" anchor="t">
            <a:spAutoFit/>
          </a:bodyPr>
          <a:lstStyle/>
          <a:p>
            <a:pPr algn="l"/>
            <a:r>
              <a:rPr sz="1800" b="1" i="0" u="none">
                <a:solidFill>
                  <a:srgbClr val="292524"/>
                </a:solidFill>
                <a:latin typeface="Plus Jakarta Sans"/>
              </a:rPr>
              <a:t>Giải Pháp &amp; Mục Tiêu (Objectives)</a:t>
            </a:r>
          </a:p>
        </p:txBody>
      </p:sp>
      <p:sp>
        <p:nvSpPr>
          <p:cNvPr id="13" name="TextBox 12"/>
          <p:cNvSpPr txBox="1"/>
          <p:nvPr/>
        </p:nvSpPr>
        <p:spPr>
          <a:xfrm>
            <a:off x="6953250" y="2986087"/>
            <a:ext cx="4643437"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Số hóa và chuẩn hóa định lượng nguyên liệu.</a:t>
            </a:r>
          </a:p>
        </p:txBody>
      </p:sp>
      <p:sp>
        <p:nvSpPr>
          <p:cNvPr id="14" name="TextBox 13"/>
          <p:cNvSpPr txBox="1"/>
          <p:nvPr/>
        </p:nvSpPr>
        <p:spPr>
          <a:xfrm>
            <a:off x="6953250" y="3290887"/>
            <a:ext cx="4643437"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Xây dựng cộng đồng chia sẻ, tương tác mở.</a:t>
            </a:r>
          </a:p>
        </p:txBody>
      </p:sp>
      <p:sp>
        <p:nvSpPr>
          <p:cNvPr id="15" name="TextBox 14"/>
          <p:cNvSpPr txBox="1"/>
          <p:nvPr/>
        </p:nvSpPr>
        <p:spPr>
          <a:xfrm>
            <a:off x="1285875" y="4214812"/>
            <a:ext cx="5025628" cy="285750"/>
          </a:xfrm>
          <a:prstGeom prst="rect">
            <a:avLst/>
          </a:prstGeom>
          <a:noFill/>
        </p:spPr>
        <p:txBody>
          <a:bodyPr wrap="none" lIns="0" tIns="0" rIns="0" bIns="0" anchor="t">
            <a:spAutoFit/>
          </a:bodyPr>
          <a:lstStyle/>
          <a:p>
            <a:pPr algn="l"/>
            <a:r>
              <a:rPr sz="1800" b="1" i="0" u="none">
                <a:solidFill>
                  <a:srgbClr val="292524"/>
                </a:solidFill>
                <a:latin typeface="Plus Jakarta Sans"/>
              </a:rPr>
              <a:t>Kiến Trúc &amp; Kỹ Thuật (Architecture)</a:t>
            </a:r>
          </a:p>
        </p:txBody>
      </p:sp>
      <p:sp>
        <p:nvSpPr>
          <p:cNvPr id="16" name="TextBox 15"/>
          <p:cNvSpPr txBox="1"/>
          <p:nvPr/>
        </p:nvSpPr>
        <p:spPr>
          <a:xfrm>
            <a:off x="1285875" y="4614862"/>
            <a:ext cx="4786312"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Mô hình 3-Tier Layered Architecture.</a:t>
            </a:r>
          </a:p>
        </p:txBody>
      </p:sp>
      <p:sp>
        <p:nvSpPr>
          <p:cNvPr id="17" name="TextBox 16"/>
          <p:cNvSpPr txBox="1"/>
          <p:nvPr/>
        </p:nvSpPr>
        <p:spPr>
          <a:xfrm>
            <a:off x="1285875" y="4919662"/>
            <a:ext cx="4786312"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Thiết kế Entity-Relationship Diagram (ERD).</a:t>
            </a:r>
          </a:p>
        </p:txBody>
      </p:sp>
      <p:sp>
        <p:nvSpPr>
          <p:cNvPr id="18" name="TextBox 17"/>
          <p:cNvSpPr txBox="1"/>
          <p:nvPr/>
        </p:nvSpPr>
        <p:spPr>
          <a:xfrm>
            <a:off x="6962775" y="4214812"/>
            <a:ext cx="5038129" cy="285750"/>
          </a:xfrm>
          <a:prstGeom prst="rect">
            <a:avLst/>
          </a:prstGeom>
          <a:noFill/>
        </p:spPr>
        <p:txBody>
          <a:bodyPr wrap="none" lIns="0" tIns="0" rIns="0" bIns="0" anchor="t">
            <a:spAutoFit/>
          </a:bodyPr>
          <a:lstStyle/>
          <a:p>
            <a:pPr algn="l"/>
            <a:r>
              <a:rPr sz="1800" b="1" i="0" u="none">
                <a:solidFill>
                  <a:srgbClr val="292524"/>
                </a:solidFill>
                <a:latin typeface="Plus Jakarta Sans"/>
              </a:rPr>
              <a:t>Kết Quả &amp; Trình Diễn (Live Demo)</a:t>
            </a:r>
          </a:p>
        </p:txBody>
      </p:sp>
      <p:sp>
        <p:nvSpPr>
          <p:cNvPr id="19" name="TextBox 18"/>
          <p:cNvSpPr txBox="1"/>
          <p:nvPr/>
        </p:nvSpPr>
        <p:spPr>
          <a:xfrm>
            <a:off x="6962775" y="4614862"/>
            <a:ext cx="4798218"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Đánh giá hiệu năng và các Use-case thực tế.</a:t>
            </a:r>
          </a:p>
        </p:txBody>
      </p:sp>
      <p:sp>
        <p:nvSpPr>
          <p:cNvPr id="20" name="TextBox 19"/>
          <p:cNvSpPr txBox="1"/>
          <p:nvPr/>
        </p:nvSpPr>
        <p:spPr>
          <a:xfrm>
            <a:off x="6962775" y="4919662"/>
            <a:ext cx="4798218" cy="228600"/>
          </a:xfrm>
          <a:prstGeom prst="rect">
            <a:avLst/>
          </a:prstGeom>
          <a:noFill/>
        </p:spPr>
        <p:txBody>
          <a:bodyPr wrap="none" lIns="0" tIns="0" rIns="0" bIns="0" anchor="t">
            <a:spAutoFit/>
          </a:bodyPr>
          <a:lstStyle/>
          <a:p>
            <a:pPr algn="l">
              <a:lnSpc>
                <a:spcPts val="1800"/>
              </a:lnSpc>
            </a:pPr>
            <a:r>
              <a:rPr sz="1200" b="0" i="0" u="none">
                <a:solidFill>
                  <a:srgbClr val="57534E"/>
                </a:solidFill>
                <a:latin typeface="Plus Jakarta Sans"/>
              </a:rPr>
              <a:t>• Hướng phát triển nâng cấp hệ thống (Future Scope).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ectangle 1"/>
          <p:cNvSpPr/>
          <p:nvPr/>
        </p:nvSpPr>
        <p:spPr>
          <a:xfrm>
            <a:off x="4876800" y="0"/>
            <a:ext cx="7315200"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0" y="0"/>
            <a:ext cx="4876800" cy="6858000"/>
          </a:xfrm>
          <a:prstGeom prst="rect">
            <a:avLst/>
          </a:prstGeom>
        </p:spPr>
      </p:pic>
      <p:pic>
        <p:nvPicPr>
          <p:cNvPr id="4" name="Picture 3" descr="image.png"/>
          <p:cNvPicPr>
            <a:picLocks noChangeAspect="1"/>
          </p:cNvPicPr>
          <p:nvPr/>
        </p:nvPicPr>
        <p:blipFill>
          <a:blip r:embed="rId3"/>
          <a:stretch>
            <a:fillRect/>
          </a:stretch>
        </p:blipFill>
        <p:spPr>
          <a:xfrm>
            <a:off x="5638800" y="2728912"/>
            <a:ext cx="200025" cy="247650"/>
          </a:xfrm>
          <a:prstGeom prst="rect">
            <a:avLst/>
          </a:prstGeom>
        </p:spPr>
      </p:pic>
      <p:pic>
        <p:nvPicPr>
          <p:cNvPr id="5" name="Picture 4" descr="image.png"/>
          <p:cNvPicPr>
            <a:picLocks noChangeAspect="1"/>
          </p:cNvPicPr>
          <p:nvPr/>
        </p:nvPicPr>
        <p:blipFill>
          <a:blip r:embed="rId4"/>
          <a:stretch>
            <a:fillRect/>
          </a:stretch>
        </p:blipFill>
        <p:spPr>
          <a:xfrm>
            <a:off x="5638800" y="3833812"/>
            <a:ext cx="285750" cy="247650"/>
          </a:xfrm>
          <a:prstGeom prst="rect">
            <a:avLst/>
          </a:prstGeom>
        </p:spPr>
      </p:pic>
      <p:pic>
        <p:nvPicPr>
          <p:cNvPr id="6" name="Picture 5" descr="image.png"/>
          <p:cNvPicPr>
            <a:picLocks noChangeAspect="1"/>
          </p:cNvPicPr>
          <p:nvPr/>
        </p:nvPicPr>
        <p:blipFill>
          <a:blip r:embed="rId5"/>
          <a:stretch>
            <a:fillRect/>
          </a:stretch>
        </p:blipFill>
        <p:spPr>
          <a:xfrm>
            <a:off x="5638800" y="5167312"/>
            <a:ext cx="228600" cy="247650"/>
          </a:xfrm>
          <a:prstGeom prst="rect">
            <a:avLst/>
          </a:prstGeom>
        </p:spPr>
      </p:pic>
      <p:sp>
        <p:nvSpPr>
          <p:cNvPr id="7" name="TextBox 6"/>
          <p:cNvSpPr txBox="1"/>
          <p:nvPr/>
        </p:nvSpPr>
        <p:spPr>
          <a:xfrm>
            <a:off x="5638800" y="919162"/>
            <a:ext cx="6553200" cy="171450"/>
          </a:xfrm>
          <a:prstGeom prst="rect">
            <a:avLst/>
          </a:prstGeom>
          <a:noFill/>
        </p:spPr>
        <p:txBody>
          <a:bodyPr wrap="none" lIns="0" tIns="0" rIns="0" bIns="0" anchor="t">
            <a:spAutoFit/>
          </a:bodyPr>
          <a:lstStyle/>
          <a:p>
            <a:pPr algn="l"/>
            <a:r>
              <a:rPr sz="1050" b="1" i="0" u="none">
                <a:solidFill>
                  <a:srgbClr val="D97706"/>
                </a:solidFill>
                <a:latin typeface="Plus Jakarta Sans"/>
              </a:rPr>
              <a:t>NGHIÊN CỨU HIỆN TRẠNG</a:t>
            </a:r>
          </a:p>
        </p:txBody>
      </p:sp>
      <p:sp>
        <p:nvSpPr>
          <p:cNvPr id="8" name="TextBox 7"/>
          <p:cNvSpPr txBox="1"/>
          <p:nvPr/>
        </p:nvSpPr>
        <p:spPr>
          <a:xfrm>
            <a:off x="5638800" y="1243012"/>
            <a:ext cx="6180772" cy="1000125"/>
          </a:xfrm>
          <a:prstGeom prst="rect">
            <a:avLst/>
          </a:prstGeom>
          <a:noFill/>
        </p:spPr>
        <p:txBody>
          <a:bodyPr wrap="square" lIns="0" tIns="0" rIns="0" bIns="0" anchor="t">
            <a:spAutoFit/>
          </a:bodyPr>
          <a:lstStyle/>
          <a:p>
            <a:pPr algn="l">
              <a:lnSpc>
                <a:spcPts val="3937"/>
              </a:lnSpc>
            </a:pPr>
            <a:r>
              <a:rPr sz="3150" b="1" i="0" u="none">
                <a:solidFill>
                  <a:srgbClr val="064E3B"/>
                </a:solidFill>
                <a:latin typeface="Lora"/>
              </a:rPr>
              <a:t>Thách thức trong việc quản lý tri thức ẩm thực</a:t>
            </a:r>
          </a:p>
        </p:txBody>
      </p:sp>
      <p:sp>
        <p:nvSpPr>
          <p:cNvPr id="9" name="TextBox 8"/>
          <p:cNvSpPr txBox="1"/>
          <p:nvPr/>
        </p:nvSpPr>
        <p:spPr>
          <a:xfrm>
            <a:off x="6067425" y="2700337"/>
            <a:ext cx="6124575" cy="266700"/>
          </a:xfrm>
          <a:prstGeom prst="rect">
            <a:avLst/>
          </a:prstGeom>
          <a:noFill/>
        </p:spPr>
        <p:txBody>
          <a:bodyPr wrap="none" lIns="0" tIns="0" rIns="0" bIns="0" anchor="t">
            <a:spAutoFit/>
          </a:bodyPr>
          <a:lstStyle/>
          <a:p>
            <a:pPr algn="l"/>
            <a:r>
              <a:rPr sz="1650" b="1" i="0" u="none">
                <a:solidFill>
                  <a:srgbClr val="292524"/>
                </a:solidFill>
                <a:latin typeface="Plus Jakarta Sans"/>
              </a:rPr>
              <a:t>Dữ liệu phân mảnh (Data Fragmentation)</a:t>
            </a:r>
          </a:p>
        </p:txBody>
      </p:sp>
      <p:sp>
        <p:nvSpPr>
          <p:cNvPr id="10" name="TextBox 9"/>
          <p:cNvSpPr txBox="1"/>
          <p:nvPr/>
        </p:nvSpPr>
        <p:spPr>
          <a:xfrm>
            <a:off x="6067425" y="3043237"/>
            <a:ext cx="5457825" cy="4572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Người dùng thường lưu trữ rải rác trên Facebook, Zalo, hoặc sổ tay vật lý. Thiếu cơ sở dữ liệu (Database) tìm kiếm tập trung khi cần tra cứu gấp.</a:t>
            </a:r>
          </a:p>
        </p:txBody>
      </p:sp>
      <p:sp>
        <p:nvSpPr>
          <p:cNvPr id="11" name="TextBox 10"/>
          <p:cNvSpPr txBox="1"/>
          <p:nvPr/>
        </p:nvSpPr>
        <p:spPr>
          <a:xfrm>
            <a:off x="6153150" y="3805237"/>
            <a:ext cx="6038850" cy="266700"/>
          </a:xfrm>
          <a:prstGeom prst="rect">
            <a:avLst/>
          </a:prstGeom>
          <a:noFill/>
        </p:spPr>
        <p:txBody>
          <a:bodyPr wrap="none" lIns="0" tIns="0" rIns="0" bIns="0" anchor="t">
            <a:spAutoFit/>
          </a:bodyPr>
          <a:lstStyle/>
          <a:p>
            <a:pPr algn="l"/>
            <a:r>
              <a:rPr sz="1650" b="1" i="0" u="none">
                <a:solidFill>
                  <a:srgbClr val="292524"/>
                </a:solidFill>
                <a:latin typeface="Plus Jakarta Sans"/>
              </a:rPr>
              <a:t>Thiếu cấu trúc dữ liệu chuẩn</a:t>
            </a:r>
          </a:p>
        </p:txBody>
      </p:sp>
      <p:sp>
        <p:nvSpPr>
          <p:cNvPr id="12" name="TextBox 11"/>
          <p:cNvSpPr txBox="1"/>
          <p:nvPr/>
        </p:nvSpPr>
        <p:spPr>
          <a:xfrm>
            <a:off x="6153150" y="4148137"/>
            <a:ext cx="5372100" cy="6858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Công thức trên mạng thường viết dạng văn bản thuần, không tách bạch RDBMS giữa (1) Thành phần nguyên liệu và (2) Quy trình chế biến, gây khó khăn khi trích xuất.</a:t>
            </a:r>
          </a:p>
        </p:txBody>
      </p:sp>
      <p:sp>
        <p:nvSpPr>
          <p:cNvPr id="13" name="TextBox 12"/>
          <p:cNvSpPr txBox="1"/>
          <p:nvPr/>
        </p:nvSpPr>
        <p:spPr>
          <a:xfrm>
            <a:off x="6096000" y="5138737"/>
            <a:ext cx="6096000" cy="266700"/>
          </a:xfrm>
          <a:prstGeom prst="rect">
            <a:avLst/>
          </a:prstGeom>
          <a:noFill/>
        </p:spPr>
        <p:txBody>
          <a:bodyPr wrap="none" lIns="0" tIns="0" rIns="0" bIns="0" anchor="t">
            <a:spAutoFit/>
          </a:bodyPr>
          <a:lstStyle/>
          <a:p>
            <a:pPr algn="l"/>
            <a:r>
              <a:rPr sz="1650" b="1" i="0" u="none">
                <a:solidFill>
                  <a:srgbClr val="292524"/>
                </a:solidFill>
                <a:latin typeface="Plus Jakarta Sans"/>
              </a:rPr>
              <a:t>Quyền tác giả &amp; Tính xác thực</a:t>
            </a:r>
          </a:p>
        </p:txBody>
      </p:sp>
      <p:sp>
        <p:nvSpPr>
          <p:cNvPr id="14" name="TextBox 13"/>
          <p:cNvSpPr txBox="1"/>
          <p:nvPr/>
        </p:nvSpPr>
        <p:spPr>
          <a:xfrm>
            <a:off x="6096000" y="5481637"/>
            <a:ext cx="5429250" cy="4572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Thiếu cơ chế User Role để xác minh người đăng bài và thiếu hệ thống kiểm duyệt (Moderation) dẫn đến các công thức sai lệch định lượng.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2" name="Rectangle 1"/>
          <p:cNvSpPr/>
          <p:nvPr/>
        </p:nvSpPr>
        <p:spPr>
          <a:xfrm>
            <a:off x="609600" y="2209800"/>
            <a:ext cx="3454449" cy="4229100"/>
          </a:xfrm>
          <a:prstGeom prst="rect">
            <a:avLst/>
          </a:prstGeom>
          <a:solidFill>
            <a:srgbClr val="022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368849" y="2209800"/>
            <a:ext cx="3454449" cy="4229100"/>
          </a:xfrm>
          <a:prstGeom prst="rect">
            <a:avLst/>
          </a:prstGeom>
          <a:solidFill>
            <a:srgbClr val="022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128099" y="2209800"/>
            <a:ext cx="3454449" cy="4229100"/>
          </a:xfrm>
          <a:prstGeom prst="rect">
            <a:avLst/>
          </a:prstGeom>
          <a:solidFill>
            <a:srgbClr val="022C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2209800"/>
            <a:ext cx="3454449"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68849" y="2209800"/>
            <a:ext cx="3454449"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99" y="2209800"/>
            <a:ext cx="3454449" cy="3810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914400" y="2705100"/>
            <a:ext cx="2844849" cy="381000"/>
          </a:xfrm>
          <a:prstGeom prst="rect">
            <a:avLst/>
          </a:prstGeom>
        </p:spPr>
      </p:pic>
      <p:pic>
        <p:nvPicPr>
          <p:cNvPr id="9" name="Picture 8" descr="image.png"/>
          <p:cNvPicPr>
            <a:picLocks noChangeAspect="1"/>
          </p:cNvPicPr>
          <p:nvPr/>
        </p:nvPicPr>
        <p:blipFill>
          <a:blip r:embed="rId3"/>
          <a:stretch>
            <a:fillRect/>
          </a:stretch>
        </p:blipFill>
        <p:spPr>
          <a:xfrm>
            <a:off x="4673649" y="2705100"/>
            <a:ext cx="2844849" cy="381000"/>
          </a:xfrm>
          <a:prstGeom prst="rect">
            <a:avLst/>
          </a:prstGeom>
        </p:spPr>
      </p:pic>
      <p:pic>
        <p:nvPicPr>
          <p:cNvPr id="10" name="Picture 9" descr="image.png"/>
          <p:cNvPicPr>
            <a:picLocks noChangeAspect="1"/>
          </p:cNvPicPr>
          <p:nvPr/>
        </p:nvPicPr>
        <p:blipFill>
          <a:blip r:embed="rId4"/>
          <a:stretch>
            <a:fillRect/>
          </a:stretch>
        </p:blipFill>
        <p:spPr>
          <a:xfrm>
            <a:off x="8432899" y="2705100"/>
            <a:ext cx="2844849" cy="381000"/>
          </a:xfrm>
          <a:prstGeom prst="rect">
            <a:avLst/>
          </a:prstGeom>
        </p:spPr>
      </p:pic>
      <p:sp>
        <p:nvSpPr>
          <p:cNvPr id="11" name="TextBox 10"/>
          <p:cNvSpPr txBox="1"/>
          <p:nvPr/>
        </p:nvSpPr>
        <p:spPr>
          <a:xfrm>
            <a:off x="609600" y="762000"/>
            <a:ext cx="11582400" cy="171450"/>
          </a:xfrm>
          <a:prstGeom prst="rect">
            <a:avLst/>
          </a:prstGeom>
          <a:noFill/>
        </p:spPr>
        <p:txBody>
          <a:bodyPr wrap="none" lIns="0" tIns="0" rIns="0" bIns="0" anchor="t">
            <a:spAutoFit/>
          </a:bodyPr>
          <a:lstStyle/>
          <a:p>
            <a:pPr algn="l"/>
            <a:r>
              <a:rPr sz="1050" b="1" i="0" u="none">
                <a:solidFill>
                  <a:srgbClr val="D97706"/>
                </a:solidFill>
                <a:latin typeface="Plus Jakarta Sans"/>
              </a:rPr>
              <a:t>MỤC TIÊU DỰ ÁN</a:t>
            </a:r>
          </a:p>
        </p:txBody>
      </p:sp>
      <p:sp>
        <p:nvSpPr>
          <p:cNvPr id="12" name="TextBox 11"/>
          <p:cNvSpPr txBox="1"/>
          <p:nvPr/>
        </p:nvSpPr>
        <p:spPr>
          <a:xfrm>
            <a:off x="609600" y="1085850"/>
            <a:ext cx="11582400" cy="514350"/>
          </a:xfrm>
          <a:prstGeom prst="rect">
            <a:avLst/>
          </a:prstGeom>
          <a:noFill/>
        </p:spPr>
        <p:txBody>
          <a:bodyPr wrap="none" lIns="0" tIns="0" rIns="0" bIns="0" anchor="t">
            <a:spAutoFit/>
          </a:bodyPr>
          <a:lstStyle/>
          <a:p>
            <a:pPr algn="l"/>
            <a:r>
              <a:rPr sz="3150" b="1" i="0" u="none">
                <a:solidFill>
                  <a:srgbClr val="FDFBF7"/>
                </a:solidFill>
                <a:latin typeface="Lora"/>
              </a:rPr>
              <a:t>Giải quyết bài toán số hóa quy trình nấu ăn</a:t>
            </a:r>
          </a:p>
        </p:txBody>
      </p:sp>
      <p:sp>
        <p:nvSpPr>
          <p:cNvPr id="13" name="TextBox 12"/>
          <p:cNvSpPr txBox="1"/>
          <p:nvPr/>
        </p:nvSpPr>
        <p:spPr>
          <a:xfrm>
            <a:off x="914400" y="3314700"/>
            <a:ext cx="3733865" cy="342900"/>
          </a:xfrm>
          <a:prstGeom prst="rect">
            <a:avLst/>
          </a:prstGeom>
          <a:noFill/>
        </p:spPr>
        <p:txBody>
          <a:bodyPr wrap="none" lIns="0" tIns="0" rIns="0" bIns="0" anchor="t">
            <a:spAutoFit/>
          </a:bodyPr>
          <a:lstStyle/>
          <a:p>
            <a:pPr algn="l"/>
            <a:r>
              <a:rPr sz="2100" b="1" i="0" u="none">
                <a:solidFill>
                  <a:srgbClr val="FDFBF7"/>
                </a:solidFill>
                <a:latin typeface="Lora"/>
              </a:rPr>
              <a:t>Số Hóa &amp; Cấu Trúc</a:t>
            </a:r>
          </a:p>
        </p:txBody>
      </p:sp>
      <p:sp>
        <p:nvSpPr>
          <p:cNvPr id="14" name="TextBox 13"/>
          <p:cNvSpPr txBox="1"/>
          <p:nvPr/>
        </p:nvSpPr>
        <p:spPr>
          <a:xfrm>
            <a:off x="4673649" y="3314700"/>
            <a:ext cx="3087104" cy="685800"/>
          </a:xfrm>
          <a:prstGeom prst="rect">
            <a:avLst/>
          </a:prstGeom>
          <a:noFill/>
        </p:spPr>
        <p:txBody>
          <a:bodyPr wrap="square" lIns="0" tIns="0" rIns="0" bIns="0" anchor="t">
            <a:spAutoFit/>
          </a:bodyPr>
          <a:lstStyle/>
          <a:p>
            <a:pPr algn="l"/>
            <a:r>
              <a:rPr sz="2100" b="1" i="0" u="none">
                <a:solidFill>
                  <a:srgbClr val="FDFBF7"/>
                </a:solidFill>
                <a:latin typeface="Lora"/>
              </a:rPr>
              <a:t>Bảo Mật &amp; Phân Quyền</a:t>
            </a:r>
          </a:p>
        </p:txBody>
      </p:sp>
      <p:sp>
        <p:nvSpPr>
          <p:cNvPr id="15" name="TextBox 14"/>
          <p:cNvSpPr txBox="1"/>
          <p:nvPr/>
        </p:nvSpPr>
        <p:spPr>
          <a:xfrm>
            <a:off x="8432899" y="3314700"/>
            <a:ext cx="3087104" cy="685800"/>
          </a:xfrm>
          <a:prstGeom prst="rect">
            <a:avLst/>
          </a:prstGeom>
          <a:noFill/>
        </p:spPr>
        <p:txBody>
          <a:bodyPr wrap="square" lIns="0" tIns="0" rIns="0" bIns="0" anchor="t">
            <a:spAutoFit/>
          </a:bodyPr>
          <a:lstStyle/>
          <a:p>
            <a:pPr algn="l"/>
            <a:r>
              <a:rPr sz="2100" b="1" i="0" u="none">
                <a:solidFill>
                  <a:srgbClr val="FDFBF7"/>
                </a:solidFill>
                <a:latin typeface="Lora"/>
              </a:rPr>
              <a:t>Tương Tác &amp; Cộng Đồng</a:t>
            </a:r>
          </a:p>
        </p:txBody>
      </p:sp>
      <p:sp>
        <p:nvSpPr>
          <p:cNvPr id="16" name="TextBox 15"/>
          <p:cNvSpPr txBox="1"/>
          <p:nvPr/>
        </p:nvSpPr>
        <p:spPr>
          <a:xfrm>
            <a:off x="1104900" y="3810000"/>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Thiết kế CSDL quan hệ chuẩn hóa 3NF để lưu trữ dữ liệu tập trung.</a:t>
            </a:r>
          </a:p>
        </p:txBody>
      </p:sp>
      <p:sp>
        <p:nvSpPr>
          <p:cNvPr id="17" name="TextBox 16"/>
          <p:cNvSpPr txBox="1"/>
          <p:nvPr/>
        </p:nvSpPr>
        <p:spPr>
          <a:xfrm>
            <a:off x="1104900" y="4324350"/>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Phân tách rõ ràng bảng Nguyên Liệu và bảng Hướng Dẫn Nấu.</a:t>
            </a:r>
          </a:p>
        </p:txBody>
      </p:sp>
      <p:sp>
        <p:nvSpPr>
          <p:cNvPr id="18" name="TextBox 17"/>
          <p:cNvSpPr txBox="1"/>
          <p:nvPr/>
        </p:nvSpPr>
        <p:spPr>
          <a:xfrm>
            <a:off x="1104900" y="4838700"/>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Hỗ trợ truy vấn SQL tìm kiếm theo Category và Tag linh hoạt.</a:t>
            </a:r>
          </a:p>
        </p:txBody>
      </p:sp>
      <p:sp>
        <p:nvSpPr>
          <p:cNvPr id="19" name="TextBox 18"/>
          <p:cNvSpPr txBox="1"/>
          <p:nvPr/>
        </p:nvSpPr>
        <p:spPr>
          <a:xfrm>
            <a:off x="4864149" y="4152900"/>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Quản lý định danh người dùng qua cơ chế ASP.NET Session/Cookies.</a:t>
            </a:r>
          </a:p>
        </p:txBody>
      </p:sp>
      <p:sp>
        <p:nvSpPr>
          <p:cNvPr id="20" name="TextBox 19"/>
          <p:cNvSpPr txBox="1"/>
          <p:nvPr/>
        </p:nvSpPr>
        <p:spPr>
          <a:xfrm>
            <a:off x="4864149" y="4667250"/>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Xây dựng Role-Based Access Control (Guest, User, Administrator).</a:t>
            </a:r>
          </a:p>
        </p:txBody>
      </p:sp>
      <p:sp>
        <p:nvSpPr>
          <p:cNvPr id="21" name="TextBox 20"/>
          <p:cNvSpPr txBox="1"/>
          <p:nvPr/>
        </p:nvSpPr>
        <p:spPr>
          <a:xfrm>
            <a:off x="4864149" y="5181600"/>
            <a:ext cx="2749599" cy="600075"/>
          </a:xfrm>
          <a:prstGeom prst="rect">
            <a:avLst/>
          </a:prstGeom>
          <a:noFill/>
        </p:spPr>
        <p:txBody>
          <a:bodyPr wrap="square" lIns="0" tIns="0" rIns="0" bIns="0" anchor="t">
            <a:spAutoFit/>
          </a:bodyPr>
          <a:lstStyle/>
          <a:p>
            <a:pPr algn="l"/>
            <a:r>
              <a:rPr sz="1200" b="0" i="0" u="none">
                <a:solidFill>
                  <a:srgbClr val="A7F3D0"/>
                </a:solidFill>
                <a:latin typeface="Plus Jakarta Sans"/>
              </a:rPr>
              <a:t>• Cung cấp CRUD operations (Thêm, Sửa, Xóa) riêng biệt cho từng tài khoản.</a:t>
            </a:r>
          </a:p>
        </p:txBody>
      </p:sp>
      <p:sp>
        <p:nvSpPr>
          <p:cNvPr id="22" name="TextBox 21"/>
          <p:cNvSpPr txBox="1"/>
          <p:nvPr/>
        </p:nvSpPr>
        <p:spPr>
          <a:xfrm>
            <a:off x="8623399" y="4152900"/>
            <a:ext cx="2749599" cy="600075"/>
          </a:xfrm>
          <a:prstGeom prst="rect">
            <a:avLst/>
          </a:prstGeom>
          <a:noFill/>
        </p:spPr>
        <p:txBody>
          <a:bodyPr wrap="square" lIns="0" tIns="0" rIns="0" bIns="0" anchor="t">
            <a:spAutoFit/>
          </a:bodyPr>
          <a:lstStyle/>
          <a:p>
            <a:pPr algn="l"/>
            <a:r>
              <a:rPr sz="1200" b="0" i="0" u="none">
                <a:solidFill>
                  <a:srgbClr val="A7F3D0"/>
                </a:solidFill>
                <a:latin typeface="Plus Jakarta Sans"/>
              </a:rPr>
              <a:t>• Xây dựng module Bình luận (Comments) và Đánh giá (Rating 5-sao).</a:t>
            </a:r>
          </a:p>
        </p:txBody>
      </p:sp>
      <p:sp>
        <p:nvSpPr>
          <p:cNvPr id="23" name="TextBox 22"/>
          <p:cNvSpPr txBox="1"/>
          <p:nvPr/>
        </p:nvSpPr>
        <p:spPr>
          <a:xfrm>
            <a:off x="8623399" y="4867275"/>
            <a:ext cx="2749599" cy="400050"/>
          </a:xfrm>
          <a:prstGeom prst="rect">
            <a:avLst/>
          </a:prstGeom>
          <a:noFill/>
        </p:spPr>
        <p:txBody>
          <a:bodyPr wrap="square" lIns="0" tIns="0" rIns="0" bIns="0" anchor="t">
            <a:spAutoFit/>
          </a:bodyPr>
          <a:lstStyle/>
          <a:p>
            <a:pPr algn="l"/>
            <a:r>
              <a:rPr sz="1200" b="0" i="0" u="none">
                <a:solidFill>
                  <a:srgbClr val="A7F3D0"/>
                </a:solidFill>
                <a:latin typeface="Plus Jakarta Sans"/>
              </a:rPr>
              <a:t>• Tính năng Bookmark cho phép người dùng tạo Collections ẩm thực riêng.</a:t>
            </a:r>
          </a:p>
        </p:txBody>
      </p:sp>
      <p:sp>
        <p:nvSpPr>
          <p:cNvPr id="24" name="TextBox 23"/>
          <p:cNvSpPr txBox="1"/>
          <p:nvPr/>
        </p:nvSpPr>
        <p:spPr>
          <a:xfrm>
            <a:off x="8623399" y="5381625"/>
            <a:ext cx="2749599" cy="600075"/>
          </a:xfrm>
          <a:prstGeom prst="rect">
            <a:avLst/>
          </a:prstGeom>
          <a:noFill/>
        </p:spPr>
        <p:txBody>
          <a:bodyPr wrap="square" lIns="0" tIns="0" rIns="0" bIns="0" anchor="t">
            <a:spAutoFit/>
          </a:bodyPr>
          <a:lstStyle/>
          <a:p>
            <a:pPr algn="l"/>
            <a:r>
              <a:rPr sz="1200" b="0" i="0" u="none">
                <a:solidFill>
                  <a:srgbClr val="A7F3D0"/>
                </a:solidFill>
                <a:latin typeface="Plus Jakarta Sans"/>
              </a:rPr>
              <a:t>• Backend kiểm duyệt nội dung (Approve/Reject) để đảm bảo chất lượng.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ectangle 1"/>
          <p:cNvSpPr/>
          <p:nvPr/>
        </p:nvSpPr>
        <p:spPr>
          <a:xfrm>
            <a:off x="6091237" y="2209800"/>
            <a:ext cx="9525" cy="4200525"/>
          </a:xfrm>
          <a:prstGeom prst="rect">
            <a:avLst/>
          </a:prstGeom>
          <a:solidFill>
            <a:srgbClr val="E7E5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2695575"/>
            <a:ext cx="3562350" cy="190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710362" y="3028950"/>
            <a:ext cx="4872037" cy="19050"/>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609600" y="3033712"/>
            <a:ext cx="200025" cy="276225"/>
          </a:xfrm>
          <a:prstGeom prst="rect">
            <a:avLst/>
          </a:prstGeom>
        </p:spPr>
      </p:pic>
      <p:pic>
        <p:nvPicPr>
          <p:cNvPr id="6" name="Picture 5" descr="image.png"/>
          <p:cNvPicPr>
            <a:picLocks noChangeAspect="1"/>
          </p:cNvPicPr>
          <p:nvPr/>
        </p:nvPicPr>
        <p:blipFill>
          <a:blip r:embed="rId3"/>
          <a:stretch>
            <a:fillRect/>
          </a:stretch>
        </p:blipFill>
        <p:spPr>
          <a:xfrm>
            <a:off x="609600" y="4052887"/>
            <a:ext cx="304800" cy="276225"/>
          </a:xfrm>
          <a:prstGeom prst="rect">
            <a:avLst/>
          </a:prstGeom>
        </p:spPr>
      </p:pic>
      <p:pic>
        <p:nvPicPr>
          <p:cNvPr id="7" name="Picture 6" descr="image.png"/>
          <p:cNvPicPr>
            <a:picLocks noChangeAspect="1"/>
          </p:cNvPicPr>
          <p:nvPr/>
        </p:nvPicPr>
        <p:blipFill>
          <a:blip r:embed="rId4"/>
          <a:stretch>
            <a:fillRect/>
          </a:stretch>
        </p:blipFill>
        <p:spPr>
          <a:xfrm>
            <a:off x="609600" y="5072062"/>
            <a:ext cx="238125" cy="276225"/>
          </a:xfrm>
          <a:prstGeom prst="rect">
            <a:avLst/>
          </a:prstGeom>
        </p:spPr>
      </p:pic>
      <p:pic>
        <p:nvPicPr>
          <p:cNvPr id="8" name="Picture 7" descr="image.png"/>
          <p:cNvPicPr>
            <a:picLocks noChangeAspect="1"/>
          </p:cNvPicPr>
          <p:nvPr/>
        </p:nvPicPr>
        <p:blipFill>
          <a:blip r:embed="rId5"/>
          <a:stretch>
            <a:fillRect/>
          </a:stretch>
        </p:blipFill>
        <p:spPr>
          <a:xfrm>
            <a:off x="6710362" y="3367087"/>
            <a:ext cx="238125" cy="276225"/>
          </a:xfrm>
          <a:prstGeom prst="rect">
            <a:avLst/>
          </a:prstGeom>
        </p:spPr>
      </p:pic>
      <p:pic>
        <p:nvPicPr>
          <p:cNvPr id="9" name="Picture 8" descr="image.png"/>
          <p:cNvPicPr>
            <a:picLocks noChangeAspect="1"/>
          </p:cNvPicPr>
          <p:nvPr/>
        </p:nvPicPr>
        <p:blipFill>
          <a:blip r:embed="rId6"/>
          <a:stretch>
            <a:fillRect/>
          </a:stretch>
        </p:blipFill>
        <p:spPr>
          <a:xfrm>
            <a:off x="6710362" y="4386262"/>
            <a:ext cx="333375" cy="276225"/>
          </a:xfrm>
          <a:prstGeom prst="rect">
            <a:avLst/>
          </a:prstGeom>
        </p:spPr>
      </p:pic>
      <p:pic>
        <p:nvPicPr>
          <p:cNvPr id="10" name="Picture 9" descr="image.png"/>
          <p:cNvPicPr>
            <a:picLocks noChangeAspect="1"/>
          </p:cNvPicPr>
          <p:nvPr/>
        </p:nvPicPr>
        <p:blipFill>
          <a:blip r:embed="rId7"/>
          <a:stretch>
            <a:fillRect/>
          </a:stretch>
        </p:blipFill>
        <p:spPr>
          <a:xfrm>
            <a:off x="6710362" y="5405437"/>
            <a:ext cx="238125" cy="276225"/>
          </a:xfrm>
          <a:prstGeom prst="rect">
            <a:avLst/>
          </a:prstGeom>
        </p:spPr>
      </p:pic>
      <p:sp>
        <p:nvSpPr>
          <p:cNvPr id="11" name="TextBox 10"/>
          <p:cNvSpPr txBox="1"/>
          <p:nvPr/>
        </p:nvSpPr>
        <p:spPr>
          <a:xfrm>
            <a:off x="609600" y="762000"/>
            <a:ext cx="11582400" cy="171450"/>
          </a:xfrm>
          <a:prstGeom prst="rect">
            <a:avLst/>
          </a:prstGeom>
          <a:noFill/>
        </p:spPr>
        <p:txBody>
          <a:bodyPr wrap="none" lIns="0" tIns="0" rIns="0" bIns="0" anchor="t">
            <a:spAutoFit/>
          </a:bodyPr>
          <a:lstStyle/>
          <a:p>
            <a:pPr algn="l"/>
            <a:r>
              <a:rPr sz="1050" b="1" i="0" u="none">
                <a:solidFill>
                  <a:srgbClr val="D97706"/>
                </a:solidFill>
                <a:latin typeface="Plus Jakarta Sans"/>
              </a:rPr>
              <a:t>QUYẾT ĐỊNH CÔNG NGHỆ</a:t>
            </a:r>
          </a:p>
        </p:txBody>
      </p:sp>
      <p:sp>
        <p:nvSpPr>
          <p:cNvPr id="12" name="TextBox 11"/>
          <p:cNvSpPr txBox="1"/>
          <p:nvPr/>
        </p:nvSpPr>
        <p:spPr>
          <a:xfrm>
            <a:off x="609600" y="1085850"/>
            <a:ext cx="11582400" cy="514350"/>
          </a:xfrm>
          <a:prstGeom prst="rect">
            <a:avLst/>
          </a:prstGeom>
          <a:noFill/>
        </p:spPr>
        <p:txBody>
          <a:bodyPr wrap="none" lIns="0" tIns="0" rIns="0" bIns="0" anchor="t">
            <a:spAutoFit/>
          </a:bodyPr>
          <a:lstStyle/>
          <a:p>
            <a:pPr algn="l"/>
            <a:r>
              <a:rPr sz="3150" b="1" i="0" u="none">
                <a:solidFill>
                  <a:srgbClr val="064E3B"/>
                </a:solidFill>
                <a:latin typeface="Lora"/>
              </a:rPr>
              <a:t>Hệ sinh thái công cụ phát triển phần mềm</a:t>
            </a:r>
          </a:p>
        </p:txBody>
      </p:sp>
      <p:sp>
        <p:nvSpPr>
          <p:cNvPr id="13" name="TextBox 12"/>
          <p:cNvSpPr txBox="1"/>
          <p:nvPr/>
        </p:nvSpPr>
        <p:spPr>
          <a:xfrm>
            <a:off x="609600" y="2209800"/>
            <a:ext cx="3840480" cy="352425"/>
          </a:xfrm>
          <a:prstGeom prst="rect">
            <a:avLst/>
          </a:prstGeom>
          <a:noFill/>
        </p:spPr>
        <p:txBody>
          <a:bodyPr wrap="square" lIns="0" tIns="0" rIns="0" bIns="0" anchor="t">
            <a:spAutoFit/>
          </a:bodyPr>
          <a:lstStyle/>
          <a:p>
            <a:pPr algn="l"/>
            <a:r>
              <a:rPr sz="2100" b="1" i="0" u="none">
                <a:solidFill>
                  <a:srgbClr val="292524"/>
                </a:solidFill>
                <a:latin typeface="Plus Jakarta Sans"/>
              </a:rPr>
              <a:t>Lớp Trình Diễn (Client-Side)</a:t>
            </a:r>
          </a:p>
        </p:txBody>
      </p:sp>
      <p:sp>
        <p:nvSpPr>
          <p:cNvPr id="14" name="TextBox 13"/>
          <p:cNvSpPr txBox="1"/>
          <p:nvPr/>
        </p:nvSpPr>
        <p:spPr>
          <a:xfrm>
            <a:off x="6710362" y="2209800"/>
            <a:ext cx="5215651" cy="685800"/>
          </a:xfrm>
          <a:prstGeom prst="rect">
            <a:avLst/>
          </a:prstGeom>
          <a:noFill/>
        </p:spPr>
        <p:txBody>
          <a:bodyPr wrap="square" lIns="0" tIns="0" rIns="0" bIns="0" anchor="t">
            <a:spAutoFit/>
          </a:bodyPr>
          <a:lstStyle/>
          <a:p>
            <a:pPr algn="l"/>
            <a:r>
              <a:rPr sz="2100" b="1" i="0" u="none">
                <a:solidFill>
                  <a:srgbClr val="292524"/>
                </a:solidFill>
                <a:latin typeface="Plus Jakarta Sans"/>
              </a:rPr>
              <a:t>Lớp Nghiệp Vụ &amp; Dữ Liệu (Server-Side)</a:t>
            </a:r>
          </a:p>
        </p:txBody>
      </p:sp>
      <p:sp>
        <p:nvSpPr>
          <p:cNvPr id="15" name="TextBox 14"/>
          <p:cNvSpPr txBox="1"/>
          <p:nvPr/>
        </p:nvSpPr>
        <p:spPr>
          <a:xfrm>
            <a:off x="1066800" y="3019425"/>
            <a:ext cx="4510087" cy="752475"/>
          </a:xfrm>
          <a:prstGeom prst="rect">
            <a:avLst/>
          </a:prstGeom>
          <a:noFill/>
        </p:spPr>
        <p:txBody>
          <a:bodyPr wrap="square" lIns="0" tIns="0" rIns="0" bIns="0" anchor="t">
            <a:spAutoFit/>
          </a:bodyPr>
          <a:lstStyle/>
          <a:p>
            <a:pPr algn="l"/>
            <a:r>
              <a:rPr sz="2100" b="0" i="0" u="none">
                <a:solidFill>
                  <a:srgbClr val="064E3B"/>
                </a:solidFill>
                <a:latin typeface="Plus Jakarta Sans"/>
              </a:rPr>
              <a:t> </a:t>
            </a:r>
            <a:r>
              <a:rPr sz="2100" b="1" i="0" u="none">
                <a:solidFill>
                  <a:srgbClr val="064E3B"/>
                </a:solidFill>
                <a:latin typeface="Plus Jakarta Sans"/>
              </a:rPr>
              <a:t>HTML5 &amp; CSS3 (Semantic)</a:t>
            </a:r>
            <a:r>
              <a:rPr sz="2100" b="0" i="0" u="none">
                <a:solidFill>
                  <a:srgbClr val="064E3B"/>
                </a:solidFill>
                <a:latin typeface="Plus Jakarta Sans"/>
              </a:rPr>
              <a:t> </a:t>
            </a:r>
            <a:r>
              <a:rPr sz="1125" b="0" i="0" u="none">
                <a:solidFill>
                  <a:srgbClr val="78716C"/>
                </a:solidFill>
                <a:latin typeface="Plus Jakarta Sans"/>
              </a:rPr>
              <a:t>Xây dựng khung giao diện chuẩn SEO. Ứng dụng CSS Flexbox/Grid cho bố cục phức tạp.</a:t>
            </a:r>
          </a:p>
        </p:txBody>
      </p:sp>
      <p:sp>
        <p:nvSpPr>
          <p:cNvPr id="16" name="TextBox 15"/>
          <p:cNvSpPr txBox="1"/>
          <p:nvPr/>
        </p:nvSpPr>
        <p:spPr>
          <a:xfrm>
            <a:off x="1066800" y="4038600"/>
            <a:ext cx="4510087" cy="752475"/>
          </a:xfrm>
          <a:prstGeom prst="rect">
            <a:avLst/>
          </a:prstGeom>
          <a:noFill/>
        </p:spPr>
        <p:txBody>
          <a:bodyPr wrap="square" lIns="0" tIns="0" rIns="0" bIns="0" anchor="t">
            <a:spAutoFit/>
          </a:bodyPr>
          <a:lstStyle/>
          <a:p>
            <a:pPr algn="l"/>
            <a:r>
              <a:rPr sz="2100" b="0" i="0" u="none">
                <a:solidFill>
                  <a:srgbClr val="064E3B"/>
                </a:solidFill>
                <a:latin typeface="Plus Jakarta Sans"/>
              </a:rPr>
              <a:t> </a:t>
            </a:r>
            <a:r>
              <a:rPr sz="2100" b="1" i="0" u="none">
                <a:solidFill>
                  <a:srgbClr val="064E3B"/>
                </a:solidFill>
                <a:latin typeface="Plus Jakarta Sans"/>
              </a:rPr>
              <a:t>Bootstrap Framework</a:t>
            </a:r>
            <a:r>
              <a:rPr sz="2100" b="0" i="0" u="none">
                <a:solidFill>
                  <a:srgbClr val="064E3B"/>
                </a:solidFill>
                <a:latin typeface="Plus Jakarta Sans"/>
              </a:rPr>
              <a:t> </a:t>
            </a:r>
            <a:r>
              <a:rPr sz="1125" b="0" i="0" u="none">
                <a:solidFill>
                  <a:srgbClr val="78716C"/>
                </a:solidFill>
                <a:latin typeface="Plus Jakarta Sans"/>
              </a:rPr>
              <a:t>Đảm bảo tính Responsive, giao diện tự động thích ứng trên Desktop, Tablet và Mobile.</a:t>
            </a:r>
          </a:p>
        </p:txBody>
      </p:sp>
      <p:sp>
        <p:nvSpPr>
          <p:cNvPr id="17" name="TextBox 16"/>
          <p:cNvSpPr txBox="1"/>
          <p:nvPr/>
        </p:nvSpPr>
        <p:spPr>
          <a:xfrm>
            <a:off x="1066800" y="5057775"/>
            <a:ext cx="4510087" cy="752475"/>
          </a:xfrm>
          <a:prstGeom prst="rect">
            <a:avLst/>
          </a:prstGeom>
          <a:noFill/>
        </p:spPr>
        <p:txBody>
          <a:bodyPr wrap="square" lIns="0" tIns="0" rIns="0" bIns="0" anchor="t">
            <a:spAutoFit/>
          </a:bodyPr>
          <a:lstStyle/>
          <a:p>
            <a:pPr algn="l"/>
            <a:r>
              <a:rPr sz="2100" b="0" i="0" u="none">
                <a:solidFill>
                  <a:srgbClr val="064E3B"/>
                </a:solidFill>
                <a:latin typeface="Plus Jakarta Sans"/>
              </a:rPr>
              <a:t> </a:t>
            </a:r>
            <a:r>
              <a:rPr sz="2100" b="1" i="0" u="none">
                <a:solidFill>
                  <a:srgbClr val="064E3B"/>
                </a:solidFill>
                <a:latin typeface="Plus Jakarta Sans"/>
              </a:rPr>
              <a:t>JavaScript &amp; jQuery</a:t>
            </a:r>
            <a:r>
              <a:rPr sz="2100" b="0" i="0" u="none">
                <a:solidFill>
                  <a:srgbClr val="064E3B"/>
                </a:solidFill>
                <a:latin typeface="Plus Jakarta Sans"/>
              </a:rPr>
              <a:t> </a:t>
            </a:r>
            <a:r>
              <a:rPr sz="1125" b="0" i="0" u="none">
                <a:solidFill>
                  <a:srgbClr val="78716C"/>
                </a:solidFill>
                <a:latin typeface="Plus Jakarta Sans"/>
              </a:rPr>
              <a:t>Xử lý Client-side validation (ràng buộc nhập liệu) giảm tải cho máy chủ. DOM manipulation.</a:t>
            </a:r>
          </a:p>
        </p:txBody>
      </p:sp>
      <p:sp>
        <p:nvSpPr>
          <p:cNvPr id="18" name="TextBox 17"/>
          <p:cNvSpPr txBox="1"/>
          <p:nvPr/>
        </p:nvSpPr>
        <p:spPr>
          <a:xfrm>
            <a:off x="7167562" y="3352800"/>
            <a:ext cx="4510087" cy="752475"/>
          </a:xfrm>
          <a:prstGeom prst="rect">
            <a:avLst/>
          </a:prstGeom>
          <a:noFill/>
        </p:spPr>
        <p:txBody>
          <a:bodyPr wrap="square" lIns="0" tIns="0" rIns="0" bIns="0" anchor="t">
            <a:spAutoFit/>
          </a:bodyPr>
          <a:lstStyle/>
          <a:p>
            <a:pPr algn="l"/>
            <a:r>
              <a:rPr sz="2100" b="0" i="0" u="none">
                <a:solidFill>
                  <a:srgbClr val="064E3B"/>
                </a:solidFill>
                <a:latin typeface="Plus Jakarta Sans"/>
              </a:rPr>
              <a:t> </a:t>
            </a:r>
            <a:r>
              <a:rPr sz="2100" b="1" i="0" u="none">
                <a:solidFill>
                  <a:srgbClr val="064E3B"/>
                </a:solidFill>
                <a:latin typeface="Plus Jakarta Sans"/>
              </a:rPr>
              <a:t>ASP.NET Web Forms (C#)</a:t>
            </a:r>
            <a:r>
              <a:rPr sz="2100" b="0" i="0" u="none">
                <a:solidFill>
                  <a:srgbClr val="064E3B"/>
                </a:solidFill>
                <a:latin typeface="Plus Jakarta Sans"/>
              </a:rPr>
              <a:t> </a:t>
            </a:r>
            <a:r>
              <a:rPr sz="1125" b="0" i="0" u="none">
                <a:solidFill>
                  <a:srgbClr val="78716C"/>
                </a:solidFill>
                <a:latin typeface="Plus Jakarta Sans"/>
              </a:rPr>
              <a:t>Mô hình Code-Behind. Sử dụng MasterPage cho layout đồng nhất. Quản lý trạng thái qua ViewState.</a:t>
            </a:r>
          </a:p>
        </p:txBody>
      </p:sp>
      <p:sp>
        <p:nvSpPr>
          <p:cNvPr id="19" name="TextBox 18"/>
          <p:cNvSpPr txBox="1"/>
          <p:nvPr/>
        </p:nvSpPr>
        <p:spPr>
          <a:xfrm>
            <a:off x="7167562" y="4371975"/>
            <a:ext cx="4510087" cy="752475"/>
          </a:xfrm>
          <a:prstGeom prst="rect">
            <a:avLst/>
          </a:prstGeom>
          <a:noFill/>
        </p:spPr>
        <p:txBody>
          <a:bodyPr wrap="square" lIns="0" tIns="0" rIns="0" bIns="0" anchor="t">
            <a:spAutoFit/>
          </a:bodyPr>
          <a:lstStyle/>
          <a:p>
            <a:pPr algn="l"/>
            <a:r>
              <a:rPr sz="2100" b="1" i="0" u="none">
                <a:solidFill>
                  <a:srgbClr val="064E3B"/>
                </a:solidFill>
                <a:latin typeface="Plus Jakarta Sans"/>
              </a:rPr>
              <a:t>ADO.NET Library </a:t>
            </a:r>
            <a:r>
              <a:rPr sz="1125" b="1" i="0" u="none">
                <a:solidFill>
                  <a:srgbClr val="78716C"/>
                </a:solidFill>
                <a:latin typeface="Plus Jakarta Sans"/>
              </a:rPr>
              <a:t>Thực thi các đối tượng SqlConnection, SqlCommand. Trích xuất dữ liệu qua SqlDataReader và DataTable.</a:t>
            </a:r>
          </a:p>
        </p:txBody>
      </p:sp>
      <p:sp>
        <p:nvSpPr>
          <p:cNvPr id="20" name="TextBox 19"/>
          <p:cNvSpPr txBox="1"/>
          <p:nvPr/>
        </p:nvSpPr>
        <p:spPr>
          <a:xfrm>
            <a:off x="7167562" y="5391150"/>
            <a:ext cx="4510087" cy="752475"/>
          </a:xfrm>
          <a:prstGeom prst="rect">
            <a:avLst/>
          </a:prstGeom>
          <a:noFill/>
        </p:spPr>
        <p:txBody>
          <a:bodyPr wrap="square" lIns="0" tIns="0" rIns="0" bIns="0" anchor="t">
            <a:spAutoFit/>
          </a:bodyPr>
          <a:lstStyle/>
          <a:p>
            <a:pPr algn="l"/>
            <a:r>
              <a:rPr sz="2100" b="1" i="0" u="none">
                <a:solidFill>
                  <a:srgbClr val="064E3B"/>
                </a:solidFill>
                <a:latin typeface="Plus Jakarta Sans"/>
              </a:rPr>
              <a:t>Microsoft SQL Server </a:t>
            </a:r>
            <a:r>
              <a:rPr sz="1125" b="1" i="0" u="none">
                <a:solidFill>
                  <a:srgbClr val="78716C"/>
                </a:solidFill>
                <a:latin typeface="Plus Jakarta Sans"/>
              </a:rPr>
              <a:t>Lưu trữ dữ liệu có cấu trúc. Sử dụng Foreign Keys đảm bảo tính toàn vẹn (Referential Integrity).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105275" y="3505200"/>
            <a:ext cx="409575" cy="19050"/>
          </a:xfrm>
          <a:prstGeom prst="rect">
            <a:avLst/>
          </a:prstGeom>
        </p:spPr>
      </p:pic>
      <p:pic>
        <p:nvPicPr>
          <p:cNvPr id="3" name="Picture 2" descr="image.png"/>
          <p:cNvPicPr>
            <a:picLocks noChangeAspect="1"/>
          </p:cNvPicPr>
          <p:nvPr/>
        </p:nvPicPr>
        <p:blipFill>
          <a:blip r:embed="rId2"/>
          <a:stretch>
            <a:fillRect/>
          </a:stretch>
        </p:blipFill>
        <p:spPr>
          <a:xfrm>
            <a:off x="7677150" y="3505200"/>
            <a:ext cx="409575" cy="19050"/>
          </a:xfrm>
          <a:prstGeom prst="rect">
            <a:avLst/>
          </a:prstGeom>
        </p:spPr>
      </p:pic>
      <p:pic>
        <p:nvPicPr>
          <p:cNvPr id="4" name="Picture 3" descr="image.png"/>
          <p:cNvPicPr>
            <a:picLocks noChangeAspect="1"/>
          </p:cNvPicPr>
          <p:nvPr/>
        </p:nvPicPr>
        <p:blipFill>
          <a:blip r:embed="rId3"/>
          <a:stretch>
            <a:fillRect/>
          </a:stretch>
        </p:blipFill>
        <p:spPr>
          <a:xfrm>
            <a:off x="2047875" y="2990850"/>
            <a:ext cx="952500" cy="952500"/>
          </a:xfrm>
          <a:prstGeom prst="rect">
            <a:avLst/>
          </a:prstGeom>
        </p:spPr>
      </p:pic>
      <p:pic>
        <p:nvPicPr>
          <p:cNvPr id="5" name="Picture 4" descr="image.png"/>
          <p:cNvPicPr>
            <a:picLocks noChangeAspect="1"/>
          </p:cNvPicPr>
          <p:nvPr/>
        </p:nvPicPr>
        <p:blipFill>
          <a:blip r:embed="rId4"/>
          <a:stretch>
            <a:fillRect/>
          </a:stretch>
        </p:blipFill>
        <p:spPr>
          <a:xfrm>
            <a:off x="4167187" y="3438525"/>
            <a:ext cx="285750" cy="152400"/>
          </a:xfrm>
          <a:prstGeom prst="rect">
            <a:avLst/>
          </a:prstGeom>
        </p:spPr>
      </p:pic>
      <p:pic>
        <p:nvPicPr>
          <p:cNvPr id="6" name="Picture 5" descr="image.png"/>
          <p:cNvPicPr>
            <a:picLocks noChangeAspect="1"/>
          </p:cNvPicPr>
          <p:nvPr/>
        </p:nvPicPr>
        <p:blipFill>
          <a:blip r:embed="rId5"/>
          <a:stretch>
            <a:fillRect/>
          </a:stretch>
        </p:blipFill>
        <p:spPr>
          <a:xfrm>
            <a:off x="5619750" y="2990850"/>
            <a:ext cx="952500" cy="952500"/>
          </a:xfrm>
          <a:prstGeom prst="rect">
            <a:avLst/>
          </a:prstGeom>
        </p:spPr>
      </p:pic>
      <p:pic>
        <p:nvPicPr>
          <p:cNvPr id="7" name="Picture 6" descr="image.png"/>
          <p:cNvPicPr>
            <a:picLocks noChangeAspect="1"/>
          </p:cNvPicPr>
          <p:nvPr/>
        </p:nvPicPr>
        <p:blipFill>
          <a:blip r:embed="rId4"/>
          <a:stretch>
            <a:fillRect/>
          </a:stretch>
        </p:blipFill>
        <p:spPr>
          <a:xfrm>
            <a:off x="7739062" y="3438525"/>
            <a:ext cx="285750" cy="152400"/>
          </a:xfrm>
          <a:prstGeom prst="rect">
            <a:avLst/>
          </a:prstGeom>
        </p:spPr>
      </p:pic>
      <p:pic>
        <p:nvPicPr>
          <p:cNvPr id="8" name="Picture 7" descr="image.png"/>
          <p:cNvPicPr>
            <a:picLocks noChangeAspect="1"/>
          </p:cNvPicPr>
          <p:nvPr/>
        </p:nvPicPr>
        <p:blipFill>
          <a:blip r:embed="rId3"/>
          <a:stretch>
            <a:fillRect/>
          </a:stretch>
        </p:blipFill>
        <p:spPr>
          <a:xfrm>
            <a:off x="9191625" y="2990850"/>
            <a:ext cx="952500" cy="952500"/>
          </a:xfrm>
          <a:prstGeom prst="rect">
            <a:avLst/>
          </a:prstGeom>
        </p:spPr>
      </p:pic>
      <p:pic>
        <p:nvPicPr>
          <p:cNvPr id="9" name="Picture 8" descr="image.png"/>
          <p:cNvPicPr>
            <a:picLocks noChangeAspect="1"/>
          </p:cNvPicPr>
          <p:nvPr/>
        </p:nvPicPr>
        <p:blipFill>
          <a:blip r:embed="rId6"/>
          <a:stretch>
            <a:fillRect/>
          </a:stretch>
        </p:blipFill>
        <p:spPr>
          <a:xfrm>
            <a:off x="2309812" y="3276600"/>
            <a:ext cx="428625" cy="381000"/>
          </a:xfrm>
          <a:prstGeom prst="rect">
            <a:avLst/>
          </a:prstGeom>
        </p:spPr>
      </p:pic>
      <p:pic>
        <p:nvPicPr>
          <p:cNvPr id="10" name="Picture 9" descr="image.png"/>
          <p:cNvPicPr>
            <a:picLocks noChangeAspect="1"/>
          </p:cNvPicPr>
          <p:nvPr/>
        </p:nvPicPr>
        <p:blipFill>
          <a:blip r:embed="rId7"/>
          <a:stretch>
            <a:fillRect/>
          </a:stretch>
        </p:blipFill>
        <p:spPr>
          <a:xfrm>
            <a:off x="5857875" y="3276600"/>
            <a:ext cx="476250" cy="381000"/>
          </a:xfrm>
          <a:prstGeom prst="rect">
            <a:avLst/>
          </a:prstGeom>
        </p:spPr>
      </p:pic>
      <p:pic>
        <p:nvPicPr>
          <p:cNvPr id="11" name="Picture 10" descr="image.png"/>
          <p:cNvPicPr>
            <a:picLocks noChangeAspect="1"/>
          </p:cNvPicPr>
          <p:nvPr/>
        </p:nvPicPr>
        <p:blipFill>
          <a:blip r:embed="rId8"/>
          <a:stretch>
            <a:fillRect/>
          </a:stretch>
        </p:blipFill>
        <p:spPr>
          <a:xfrm>
            <a:off x="9501187" y="3276600"/>
            <a:ext cx="333375" cy="381000"/>
          </a:xfrm>
          <a:prstGeom prst="rect">
            <a:avLst/>
          </a:prstGeom>
        </p:spPr>
      </p:pic>
      <p:sp>
        <p:nvSpPr>
          <p:cNvPr id="12" name="TextBox 11"/>
          <p:cNvSpPr txBox="1"/>
          <p:nvPr/>
        </p:nvSpPr>
        <p:spPr>
          <a:xfrm>
            <a:off x="-381000" y="1390650"/>
            <a:ext cx="12954000" cy="171450"/>
          </a:xfrm>
          <a:prstGeom prst="rect">
            <a:avLst/>
          </a:prstGeom>
          <a:noFill/>
        </p:spPr>
        <p:txBody>
          <a:bodyPr wrap="none" lIns="0" tIns="0" rIns="0" bIns="0" anchor="t">
            <a:spAutoFit/>
          </a:bodyPr>
          <a:lstStyle/>
          <a:p>
            <a:pPr algn="ctr"/>
            <a:r>
              <a:rPr sz="1050" b="1" i="0" u="none">
                <a:solidFill>
                  <a:srgbClr val="D97706"/>
                </a:solidFill>
                <a:latin typeface="Plus Jakarta Sans"/>
              </a:rPr>
              <a:t>THIẾT KẾ HỆ THỐNG</a:t>
            </a:r>
          </a:p>
        </p:txBody>
      </p:sp>
      <p:sp>
        <p:nvSpPr>
          <p:cNvPr id="13" name="TextBox 12"/>
          <p:cNvSpPr txBox="1"/>
          <p:nvPr/>
        </p:nvSpPr>
        <p:spPr>
          <a:xfrm>
            <a:off x="-381000" y="1714500"/>
            <a:ext cx="12954000" cy="514350"/>
          </a:xfrm>
          <a:prstGeom prst="rect">
            <a:avLst/>
          </a:prstGeom>
          <a:noFill/>
        </p:spPr>
        <p:txBody>
          <a:bodyPr wrap="none" lIns="0" tIns="0" rIns="0" bIns="0" anchor="t">
            <a:spAutoFit/>
          </a:bodyPr>
          <a:lstStyle/>
          <a:p>
            <a:pPr algn="ctr"/>
            <a:r>
              <a:rPr sz="3150" b="1" i="0" u="none">
                <a:solidFill>
                  <a:srgbClr val="064E3B"/>
                </a:solidFill>
                <a:latin typeface="Lora"/>
              </a:rPr>
              <a:t>Triển khai Kiến trúc 3 Lớp (3-Tier Architecture)</a:t>
            </a:r>
          </a:p>
        </p:txBody>
      </p:sp>
      <p:sp>
        <p:nvSpPr>
          <p:cNvPr id="14" name="TextBox 13"/>
          <p:cNvSpPr txBox="1"/>
          <p:nvPr/>
        </p:nvSpPr>
        <p:spPr>
          <a:xfrm>
            <a:off x="648890" y="4171950"/>
            <a:ext cx="3750468" cy="266700"/>
          </a:xfrm>
          <a:prstGeom prst="rect">
            <a:avLst/>
          </a:prstGeom>
          <a:noFill/>
        </p:spPr>
        <p:txBody>
          <a:bodyPr wrap="none" lIns="0" tIns="0" rIns="0" bIns="0" anchor="t">
            <a:spAutoFit/>
          </a:bodyPr>
          <a:lstStyle/>
          <a:p>
            <a:pPr algn="ctr"/>
            <a:r>
              <a:rPr sz="1650" b="1" i="0" u="none">
                <a:solidFill>
                  <a:srgbClr val="292524"/>
                </a:solidFill>
                <a:latin typeface="Plus Jakarta Sans"/>
              </a:rPr>
              <a:t>1. Presentation Tier (UI)</a:t>
            </a:r>
          </a:p>
        </p:txBody>
      </p:sp>
      <p:sp>
        <p:nvSpPr>
          <p:cNvPr id="15" name="TextBox 14"/>
          <p:cNvSpPr txBox="1"/>
          <p:nvPr/>
        </p:nvSpPr>
        <p:spPr>
          <a:xfrm>
            <a:off x="1190625" y="4552950"/>
            <a:ext cx="2857500" cy="914400"/>
          </a:xfrm>
          <a:prstGeom prst="rect">
            <a:avLst/>
          </a:prstGeom>
          <a:noFill/>
        </p:spPr>
        <p:txBody>
          <a:bodyPr wrap="square" lIns="0" tIns="0" rIns="0" bIns="0" anchor="t">
            <a:spAutoFit/>
          </a:bodyPr>
          <a:lstStyle/>
          <a:p>
            <a:pPr algn="l">
              <a:lnSpc>
                <a:spcPts val="1800"/>
              </a:lnSpc>
            </a:pPr>
            <a:r>
              <a:rPr sz="1125" b="0" i="0" u="none">
                <a:solidFill>
                  <a:srgbClr val="57534E"/>
                </a:solidFill>
                <a:latin typeface="Plus Jakarta Sans"/>
              </a:rPr>
              <a:t>• Các trang (.aspx) tiếp nhận input.</a:t>
            </a:r>
            <a:r>
              <a:t>
</a:t>
            </a:r>
            <a:r>
              <a:rPr sz="1125" b="0" i="0" u="none">
                <a:solidFill>
                  <a:srgbClr val="57534E"/>
                </a:solidFill>
                <a:latin typeface="Plus Jakarta Sans"/>
              </a:rPr>
              <a:t> • Kế thừa Site.Master layout.</a:t>
            </a:r>
            <a:r>
              <a:t>
</a:t>
            </a:r>
            <a:r>
              <a:rPr sz="1125" b="0" i="0" u="none">
                <a:solidFill>
                  <a:srgbClr val="57534E"/>
                </a:solidFill>
                <a:latin typeface="Plus Jakarta Sans"/>
              </a:rPr>
              <a:t> • Hiển thị dữ liệu qua DataList/Repeater.</a:t>
            </a:r>
            <a:r>
              <a:t>
</a:t>
            </a:r>
            <a:r>
              <a:rPr sz="1125" b="0" i="0" u="none">
                <a:solidFill>
                  <a:srgbClr val="57534E"/>
                </a:solidFill>
                <a:latin typeface="Plus Jakarta Sans"/>
              </a:rPr>
              <a:t> • Bắt lỗi UI (RequiredFieldValidator).</a:t>
            </a:r>
          </a:p>
        </p:txBody>
      </p:sp>
      <p:sp>
        <p:nvSpPr>
          <p:cNvPr id="16" name="TextBox 15"/>
          <p:cNvSpPr txBox="1"/>
          <p:nvPr/>
        </p:nvSpPr>
        <p:spPr>
          <a:xfrm>
            <a:off x="4220765" y="4171950"/>
            <a:ext cx="3750468" cy="266700"/>
          </a:xfrm>
          <a:prstGeom prst="rect">
            <a:avLst/>
          </a:prstGeom>
          <a:noFill/>
        </p:spPr>
        <p:txBody>
          <a:bodyPr wrap="none" lIns="0" tIns="0" rIns="0" bIns="0" anchor="t">
            <a:spAutoFit/>
          </a:bodyPr>
          <a:lstStyle/>
          <a:p>
            <a:pPr algn="ctr"/>
            <a:r>
              <a:rPr sz="1650" b="1" i="0" u="none">
                <a:solidFill>
                  <a:srgbClr val="292524"/>
                </a:solidFill>
                <a:latin typeface="Plus Jakarta Sans"/>
              </a:rPr>
              <a:t>2. Business Logic (BLL)</a:t>
            </a:r>
          </a:p>
        </p:txBody>
      </p:sp>
      <p:sp>
        <p:nvSpPr>
          <p:cNvPr id="17" name="TextBox 16"/>
          <p:cNvSpPr txBox="1"/>
          <p:nvPr/>
        </p:nvSpPr>
        <p:spPr>
          <a:xfrm>
            <a:off x="4762500" y="4552950"/>
            <a:ext cx="2857500" cy="914400"/>
          </a:xfrm>
          <a:prstGeom prst="rect">
            <a:avLst/>
          </a:prstGeom>
          <a:noFill/>
        </p:spPr>
        <p:txBody>
          <a:bodyPr wrap="square" lIns="0" tIns="0" rIns="0" bIns="0" anchor="t">
            <a:spAutoFit/>
          </a:bodyPr>
          <a:lstStyle/>
          <a:p>
            <a:pPr algn="l">
              <a:lnSpc>
                <a:spcPts val="1800"/>
              </a:lnSpc>
            </a:pPr>
            <a:r>
              <a:rPr sz="1125" b="0" i="0" u="none">
                <a:solidFill>
                  <a:srgbClr val="57534E"/>
                </a:solidFill>
                <a:latin typeface="Plus Jakarta Sans"/>
              </a:rPr>
              <a:t>• Trung gian xử lý các nghiệp vụ (C#).</a:t>
            </a:r>
            <a:r>
              <a:t>
</a:t>
            </a:r>
            <a:r>
              <a:rPr sz="1125" b="0" i="0" u="none">
                <a:solidFill>
                  <a:srgbClr val="57534E"/>
                </a:solidFill>
                <a:latin typeface="Plus Jakarta Sans"/>
              </a:rPr>
              <a:t> • Kiểm tra tính hợp lệ dữ liệu Backend.</a:t>
            </a:r>
            <a:r>
              <a:t>
</a:t>
            </a:r>
            <a:r>
              <a:rPr sz="1125" b="0" i="0" u="none">
                <a:solidFill>
                  <a:srgbClr val="57534E"/>
                </a:solidFill>
                <a:latin typeface="Plus Jakarta Sans"/>
              </a:rPr>
              <a:t> • Xác thực quyền Session/Cookies.</a:t>
            </a:r>
            <a:r>
              <a:t>
</a:t>
            </a:r>
            <a:r>
              <a:rPr sz="1125" b="0" i="0" u="none">
                <a:solidFill>
                  <a:srgbClr val="57534E"/>
                </a:solidFill>
                <a:latin typeface="Plus Jakarta Sans"/>
              </a:rPr>
              <a:t> • Chuẩn bị câu lệnh truy vấn truyền đi.</a:t>
            </a:r>
          </a:p>
        </p:txBody>
      </p:sp>
      <p:sp>
        <p:nvSpPr>
          <p:cNvPr id="18" name="TextBox 17"/>
          <p:cNvSpPr txBox="1"/>
          <p:nvPr/>
        </p:nvSpPr>
        <p:spPr>
          <a:xfrm>
            <a:off x="7792640" y="4171950"/>
            <a:ext cx="3750468" cy="266700"/>
          </a:xfrm>
          <a:prstGeom prst="rect">
            <a:avLst/>
          </a:prstGeom>
          <a:noFill/>
        </p:spPr>
        <p:txBody>
          <a:bodyPr wrap="none" lIns="0" tIns="0" rIns="0" bIns="0" anchor="t">
            <a:spAutoFit/>
          </a:bodyPr>
          <a:lstStyle/>
          <a:p>
            <a:pPr algn="ctr"/>
            <a:r>
              <a:rPr sz="1650" b="1" i="0" u="none">
                <a:solidFill>
                  <a:srgbClr val="292524"/>
                </a:solidFill>
                <a:latin typeface="Plus Jakarta Sans"/>
              </a:rPr>
              <a:t>3. Data Access (DAL)</a:t>
            </a:r>
          </a:p>
        </p:txBody>
      </p:sp>
      <p:sp>
        <p:nvSpPr>
          <p:cNvPr id="19" name="TextBox 18"/>
          <p:cNvSpPr txBox="1"/>
          <p:nvPr/>
        </p:nvSpPr>
        <p:spPr>
          <a:xfrm>
            <a:off x="8334375" y="4552950"/>
            <a:ext cx="2857500" cy="914400"/>
          </a:xfrm>
          <a:prstGeom prst="rect">
            <a:avLst/>
          </a:prstGeom>
          <a:noFill/>
        </p:spPr>
        <p:txBody>
          <a:bodyPr wrap="square" lIns="0" tIns="0" rIns="0" bIns="0" anchor="t">
            <a:spAutoFit/>
          </a:bodyPr>
          <a:lstStyle/>
          <a:p>
            <a:pPr algn="l">
              <a:lnSpc>
                <a:spcPts val="1800"/>
              </a:lnSpc>
            </a:pPr>
            <a:r>
              <a:rPr sz="1125" b="0" i="0" u="none">
                <a:solidFill>
                  <a:srgbClr val="57534E"/>
                </a:solidFill>
                <a:latin typeface="Plus Jakarta Sans"/>
              </a:rPr>
              <a:t>• Class thư viện DataProvider.cs.</a:t>
            </a:r>
            <a:r>
              <a:t>
</a:t>
            </a:r>
            <a:r>
              <a:rPr sz="1125" b="0" i="0" u="none">
                <a:solidFill>
                  <a:srgbClr val="57534E"/>
                </a:solidFill>
                <a:latin typeface="Plus Jakarta Sans"/>
              </a:rPr>
              <a:t> • Mở/Đóng kết nối (SqlConnection).</a:t>
            </a:r>
            <a:r>
              <a:t>
</a:t>
            </a:r>
            <a:r>
              <a:rPr sz="1125" b="0" i="0" u="none">
                <a:solidFill>
                  <a:srgbClr val="57534E"/>
                </a:solidFill>
                <a:latin typeface="Plus Jakarta Sans"/>
              </a:rPr>
              <a:t> • Tránh SQL Injection qua Parameters.</a:t>
            </a:r>
            <a:r>
              <a:t>
</a:t>
            </a:r>
            <a:r>
              <a:rPr sz="1125" b="0" i="0" u="none">
                <a:solidFill>
                  <a:srgbClr val="57534E"/>
                </a:solidFill>
                <a:latin typeface="Plus Jakarta Sans"/>
              </a:rPr>
              <a:t> • Trả về DataSet/DataTable cho BLL.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ectangle 1"/>
          <p:cNvSpPr/>
          <p:nvPr/>
        </p:nvSpPr>
        <p:spPr>
          <a:xfrm>
            <a:off x="919162" y="4719637"/>
            <a:ext cx="1438275" cy="561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86037" y="4719637"/>
            <a:ext cx="1905000" cy="561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719637" y="4576762"/>
            <a:ext cx="2466975" cy="542925"/>
          </a:xfrm>
          <a:prstGeom prst="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415212" y="4719637"/>
            <a:ext cx="2066925" cy="561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710737" y="4719637"/>
            <a:ext cx="1562100" cy="561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738687" y="1328737"/>
            <a:ext cx="3393281" cy="171450"/>
          </a:xfrm>
          <a:prstGeom prst="rect">
            <a:avLst/>
          </a:prstGeom>
          <a:noFill/>
        </p:spPr>
        <p:txBody>
          <a:bodyPr wrap="none" lIns="0" tIns="0" rIns="0" bIns="0" anchor="t">
            <a:spAutoFit/>
          </a:bodyPr>
          <a:lstStyle/>
          <a:p>
            <a:pPr algn="l"/>
            <a:r>
              <a:rPr sz="1050" b="1" i="0" u="none">
                <a:solidFill>
                  <a:srgbClr val="D97706"/>
                </a:solidFill>
                <a:latin typeface="Plus Jakarta Sans"/>
              </a:rPr>
              <a:t>SƠ ĐỒ THỰC THỂ - LIÊN KẾT (ERD)</a:t>
            </a:r>
          </a:p>
        </p:txBody>
      </p:sp>
      <p:sp>
        <p:nvSpPr>
          <p:cNvPr id="8" name="TextBox 7"/>
          <p:cNvSpPr txBox="1"/>
          <p:nvPr/>
        </p:nvSpPr>
        <p:spPr>
          <a:xfrm>
            <a:off x="5348287" y="1728787"/>
            <a:ext cx="1869281" cy="1333500"/>
          </a:xfrm>
          <a:prstGeom prst="rect">
            <a:avLst/>
          </a:prstGeom>
          <a:noFill/>
        </p:spPr>
        <p:txBody>
          <a:bodyPr wrap="none" lIns="0" tIns="0" rIns="0" bIns="0" anchor="t">
            <a:spAutoFit/>
          </a:bodyPr>
          <a:lstStyle/>
          <a:p>
            <a:pPr algn="l">
              <a:lnSpc>
                <a:spcPts val="10500"/>
              </a:lnSpc>
            </a:pPr>
            <a:r>
              <a:rPr sz="10500" b="1" i="0" u="none">
                <a:solidFill>
                  <a:srgbClr val="064E3B"/>
                </a:solidFill>
                <a:latin typeface="Lora"/>
              </a:rPr>
              <a:t>05</a:t>
            </a:r>
          </a:p>
        </p:txBody>
      </p:sp>
      <p:sp>
        <p:nvSpPr>
          <p:cNvPr id="9" name="TextBox 8"/>
          <p:cNvSpPr txBox="1"/>
          <p:nvPr/>
        </p:nvSpPr>
        <p:spPr>
          <a:xfrm>
            <a:off x="3457575" y="3214687"/>
            <a:ext cx="6925865" cy="381000"/>
          </a:xfrm>
          <a:prstGeom prst="rect">
            <a:avLst/>
          </a:prstGeom>
          <a:noFill/>
        </p:spPr>
        <p:txBody>
          <a:bodyPr wrap="none" lIns="0" tIns="0" rIns="0" bIns="0" anchor="t">
            <a:spAutoFit/>
          </a:bodyPr>
          <a:lstStyle/>
          <a:p>
            <a:pPr algn="l"/>
            <a:r>
              <a:rPr sz="2400" b="1" i="0" u="none">
                <a:solidFill>
                  <a:srgbClr val="292524"/>
                </a:solidFill>
                <a:latin typeface="Plus Jakarta Sans"/>
              </a:rPr>
              <a:t>Bảng dữ liệu cốt lõi (Chuẩn hóa 3NF)</a:t>
            </a:r>
          </a:p>
        </p:txBody>
      </p:sp>
      <p:sp>
        <p:nvSpPr>
          <p:cNvPr id="10" name="TextBox 9"/>
          <p:cNvSpPr txBox="1"/>
          <p:nvPr/>
        </p:nvSpPr>
        <p:spPr>
          <a:xfrm>
            <a:off x="1333500" y="3671887"/>
            <a:ext cx="9525000" cy="438150"/>
          </a:xfrm>
          <a:prstGeom prst="rect">
            <a:avLst/>
          </a:prstGeom>
          <a:noFill/>
        </p:spPr>
        <p:txBody>
          <a:bodyPr wrap="square" lIns="0" tIns="0" rIns="0" bIns="0" anchor="t">
            <a:spAutoFit/>
          </a:bodyPr>
          <a:lstStyle/>
          <a:p>
            <a:pPr algn="ctr"/>
            <a:r>
              <a:rPr sz="1350" b="0" i="0" u="none">
                <a:solidFill>
                  <a:srgbClr val="78716C"/>
                </a:solidFill>
                <a:latin typeface="Plus Jakarta Sans"/>
              </a:rPr>
              <a:t>Sử dụng Primary Key (Khóa chính) và Foreign Key (Khóa ngoại) cùng các ràng buộc RDBMS (Cascade Delete/Update) để đảm bảo không xảy ra mâu thuẫn dữ liệu (Anomaly).</a:t>
            </a:r>
          </a:p>
        </p:txBody>
      </p:sp>
      <p:sp>
        <p:nvSpPr>
          <p:cNvPr id="11" name="TextBox 10"/>
          <p:cNvSpPr txBox="1"/>
          <p:nvPr/>
        </p:nvSpPr>
        <p:spPr>
          <a:xfrm>
            <a:off x="1223962" y="4872037"/>
            <a:ext cx="923925" cy="257175"/>
          </a:xfrm>
          <a:prstGeom prst="rect">
            <a:avLst/>
          </a:prstGeom>
          <a:noFill/>
        </p:spPr>
        <p:txBody>
          <a:bodyPr wrap="square" lIns="0" tIns="0" rIns="0" bIns="0" anchor="t">
            <a:spAutoFit/>
          </a:bodyPr>
          <a:lstStyle/>
          <a:p>
            <a:pPr algn="l"/>
            <a:r>
              <a:rPr sz="1500" b="1" i="0" u="none">
                <a:solidFill>
                  <a:srgbClr val="292524"/>
                </a:solidFill>
                <a:latin typeface="Plus Jakarta Sans"/>
              </a:rPr>
              <a:t>Tbl_User</a:t>
            </a:r>
          </a:p>
        </p:txBody>
      </p:sp>
      <p:sp>
        <p:nvSpPr>
          <p:cNvPr id="12" name="TextBox 11"/>
          <p:cNvSpPr txBox="1"/>
          <p:nvPr/>
        </p:nvSpPr>
        <p:spPr>
          <a:xfrm>
            <a:off x="1076325" y="5357812"/>
            <a:ext cx="1409700" cy="171450"/>
          </a:xfrm>
          <a:prstGeom prst="rect">
            <a:avLst/>
          </a:prstGeom>
          <a:noFill/>
        </p:spPr>
        <p:txBody>
          <a:bodyPr wrap="none" lIns="0" tIns="0" rIns="0" bIns="0" anchor="t">
            <a:spAutoFit/>
          </a:bodyPr>
          <a:lstStyle/>
          <a:p>
            <a:pPr algn="l"/>
            <a:r>
              <a:rPr sz="1050" b="0" i="0" u="none">
                <a:solidFill>
                  <a:srgbClr val="78716C"/>
                </a:solidFill>
                <a:latin typeface="Plus Jakarta Sans"/>
              </a:rPr>
              <a:t>(Quản lý tài khoản)</a:t>
            </a:r>
          </a:p>
        </p:txBody>
      </p:sp>
      <p:sp>
        <p:nvSpPr>
          <p:cNvPr id="13" name="TextBox 12"/>
          <p:cNvSpPr txBox="1"/>
          <p:nvPr/>
        </p:nvSpPr>
        <p:spPr>
          <a:xfrm>
            <a:off x="2890837" y="4872037"/>
            <a:ext cx="1390650" cy="257175"/>
          </a:xfrm>
          <a:prstGeom prst="rect">
            <a:avLst/>
          </a:prstGeom>
          <a:noFill/>
        </p:spPr>
        <p:txBody>
          <a:bodyPr wrap="square" lIns="0" tIns="0" rIns="0" bIns="0" anchor="t">
            <a:spAutoFit/>
          </a:bodyPr>
          <a:lstStyle/>
          <a:p>
            <a:pPr algn="l"/>
            <a:r>
              <a:rPr sz="1500" b="1" i="0" u="none">
                <a:solidFill>
                  <a:srgbClr val="292524"/>
                </a:solidFill>
                <a:latin typeface="Plus Jakarta Sans"/>
              </a:rPr>
              <a:t>Tbl_Category</a:t>
            </a:r>
          </a:p>
        </p:txBody>
      </p:sp>
      <p:sp>
        <p:nvSpPr>
          <p:cNvPr id="14" name="TextBox 13"/>
          <p:cNvSpPr txBox="1"/>
          <p:nvPr/>
        </p:nvSpPr>
        <p:spPr>
          <a:xfrm>
            <a:off x="3071812" y="5357812"/>
            <a:ext cx="1219200" cy="171450"/>
          </a:xfrm>
          <a:prstGeom prst="rect">
            <a:avLst/>
          </a:prstGeom>
          <a:noFill/>
        </p:spPr>
        <p:txBody>
          <a:bodyPr wrap="none" lIns="0" tIns="0" rIns="0" bIns="0" anchor="t">
            <a:spAutoFit/>
          </a:bodyPr>
          <a:lstStyle/>
          <a:p>
            <a:pPr algn="l"/>
            <a:r>
              <a:rPr sz="1050" b="0" i="0" u="none">
                <a:solidFill>
                  <a:srgbClr val="78716C"/>
                </a:solidFill>
                <a:latin typeface="Plus Jakarta Sans"/>
              </a:rPr>
              <a:t>(Phân loại món)</a:t>
            </a:r>
          </a:p>
        </p:txBody>
      </p:sp>
      <p:sp>
        <p:nvSpPr>
          <p:cNvPr id="15" name="TextBox 14"/>
          <p:cNvSpPr txBox="1"/>
          <p:nvPr/>
        </p:nvSpPr>
        <p:spPr>
          <a:xfrm>
            <a:off x="5024437" y="4729162"/>
            <a:ext cx="1952625" cy="238125"/>
          </a:xfrm>
          <a:prstGeom prst="rect">
            <a:avLst/>
          </a:prstGeom>
          <a:noFill/>
        </p:spPr>
        <p:txBody>
          <a:bodyPr wrap="square" lIns="0" tIns="0" rIns="0" bIns="0" anchor="t">
            <a:spAutoFit/>
          </a:bodyPr>
          <a:lstStyle/>
          <a:p>
            <a:pPr algn="l"/>
            <a:r>
              <a:rPr sz="1500" b="1" i="0" u="none">
                <a:solidFill>
                  <a:srgbClr val="FFFFFF"/>
                </a:solidFill>
                <a:latin typeface="Plus Jakarta Sans"/>
              </a:rPr>
              <a:t>Tbl_Recipe (Master)</a:t>
            </a:r>
          </a:p>
        </p:txBody>
      </p:sp>
      <p:sp>
        <p:nvSpPr>
          <p:cNvPr id="16" name="TextBox 15"/>
          <p:cNvSpPr txBox="1"/>
          <p:nvPr/>
        </p:nvSpPr>
        <p:spPr>
          <a:xfrm>
            <a:off x="5305425" y="5195887"/>
            <a:ext cx="1619250" cy="171450"/>
          </a:xfrm>
          <a:prstGeom prst="rect">
            <a:avLst/>
          </a:prstGeom>
          <a:noFill/>
        </p:spPr>
        <p:txBody>
          <a:bodyPr wrap="none" lIns="0" tIns="0" rIns="0" bIns="0" anchor="t">
            <a:spAutoFit/>
          </a:bodyPr>
          <a:lstStyle/>
          <a:p>
            <a:pPr algn="l"/>
            <a:r>
              <a:rPr sz="1050" b="1" i="0" u="none">
                <a:solidFill>
                  <a:srgbClr val="064E3B"/>
                </a:solidFill>
                <a:latin typeface="Plus Jakarta Sans"/>
              </a:rPr>
              <a:t>(Thực thể trung tâm)</a:t>
            </a:r>
          </a:p>
        </p:txBody>
      </p:sp>
      <p:sp>
        <p:nvSpPr>
          <p:cNvPr id="17" name="TextBox 16"/>
          <p:cNvSpPr txBox="1"/>
          <p:nvPr/>
        </p:nvSpPr>
        <p:spPr>
          <a:xfrm>
            <a:off x="7720012" y="4872037"/>
            <a:ext cx="1552575" cy="257175"/>
          </a:xfrm>
          <a:prstGeom prst="rect">
            <a:avLst/>
          </a:prstGeom>
          <a:noFill/>
        </p:spPr>
        <p:txBody>
          <a:bodyPr wrap="square" lIns="0" tIns="0" rIns="0" bIns="0" anchor="t">
            <a:spAutoFit/>
          </a:bodyPr>
          <a:lstStyle/>
          <a:p>
            <a:pPr algn="l"/>
            <a:r>
              <a:rPr sz="1500" b="1" i="0" u="none">
                <a:solidFill>
                  <a:srgbClr val="292524"/>
                </a:solidFill>
                <a:latin typeface="Plus Jakarta Sans"/>
              </a:rPr>
              <a:t>Tbl_Ingredients</a:t>
            </a:r>
          </a:p>
        </p:txBody>
      </p:sp>
      <p:sp>
        <p:nvSpPr>
          <p:cNvPr id="18" name="TextBox 17"/>
          <p:cNvSpPr txBox="1"/>
          <p:nvPr/>
        </p:nvSpPr>
        <p:spPr>
          <a:xfrm>
            <a:off x="7862887" y="5357812"/>
            <a:ext cx="1464468" cy="171450"/>
          </a:xfrm>
          <a:prstGeom prst="rect">
            <a:avLst/>
          </a:prstGeom>
          <a:noFill/>
        </p:spPr>
        <p:txBody>
          <a:bodyPr wrap="none" lIns="0" tIns="0" rIns="0" bIns="0" anchor="t">
            <a:spAutoFit/>
          </a:bodyPr>
          <a:lstStyle/>
          <a:p>
            <a:pPr algn="l"/>
            <a:r>
              <a:rPr sz="1050" b="0" i="0" u="none">
                <a:solidFill>
                  <a:srgbClr val="78716C"/>
                </a:solidFill>
                <a:latin typeface="Plus Jakarta Sans"/>
              </a:rPr>
              <a:t>(Chi tiết định lượng)</a:t>
            </a:r>
          </a:p>
        </p:txBody>
      </p:sp>
      <p:sp>
        <p:nvSpPr>
          <p:cNvPr id="19" name="TextBox 18"/>
          <p:cNvSpPr txBox="1"/>
          <p:nvPr/>
        </p:nvSpPr>
        <p:spPr>
          <a:xfrm>
            <a:off x="10015537" y="4872037"/>
            <a:ext cx="1047750" cy="257175"/>
          </a:xfrm>
          <a:prstGeom prst="rect">
            <a:avLst/>
          </a:prstGeom>
          <a:noFill/>
        </p:spPr>
        <p:txBody>
          <a:bodyPr wrap="square" lIns="0" tIns="0" rIns="0" bIns="0" anchor="t">
            <a:spAutoFit/>
          </a:bodyPr>
          <a:lstStyle/>
          <a:p>
            <a:pPr algn="l"/>
            <a:r>
              <a:rPr sz="1500" b="1" i="0" u="none">
                <a:solidFill>
                  <a:srgbClr val="292524"/>
                </a:solidFill>
                <a:latin typeface="Plus Jakarta Sans"/>
              </a:rPr>
              <a:t>Tbl_Steps</a:t>
            </a:r>
          </a:p>
        </p:txBody>
      </p:sp>
      <p:sp>
        <p:nvSpPr>
          <p:cNvPr id="20" name="TextBox 19"/>
          <p:cNvSpPr txBox="1"/>
          <p:nvPr/>
        </p:nvSpPr>
        <p:spPr>
          <a:xfrm>
            <a:off x="9882187" y="5357812"/>
            <a:ext cx="1524000" cy="171450"/>
          </a:xfrm>
          <a:prstGeom prst="rect">
            <a:avLst/>
          </a:prstGeom>
          <a:noFill/>
        </p:spPr>
        <p:txBody>
          <a:bodyPr wrap="none" lIns="0" tIns="0" rIns="0" bIns="0" anchor="t">
            <a:spAutoFit/>
          </a:bodyPr>
          <a:lstStyle/>
          <a:p>
            <a:pPr algn="l"/>
            <a:r>
              <a:rPr sz="1050" b="0" i="0" u="none">
                <a:solidFill>
                  <a:srgbClr val="78716C"/>
                </a:solidFill>
                <a:latin typeface="Plus Jakarta Sans"/>
              </a:rPr>
              <a:t>(Quy trình thực hiện)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609600" y="2619375"/>
            <a:ext cx="533400" cy="533400"/>
          </a:xfrm>
          <a:prstGeom prst="rect">
            <a:avLst/>
          </a:prstGeom>
        </p:spPr>
      </p:pic>
      <p:pic>
        <p:nvPicPr>
          <p:cNvPr id="3" name="Picture 2" descr="image.png"/>
          <p:cNvPicPr>
            <a:picLocks noChangeAspect="1"/>
          </p:cNvPicPr>
          <p:nvPr/>
        </p:nvPicPr>
        <p:blipFill>
          <a:blip r:embed="rId2"/>
          <a:stretch>
            <a:fillRect/>
          </a:stretch>
        </p:blipFill>
        <p:spPr>
          <a:xfrm>
            <a:off x="6324600" y="2619375"/>
            <a:ext cx="533400" cy="533400"/>
          </a:xfrm>
          <a:prstGeom prst="rect">
            <a:avLst/>
          </a:prstGeom>
        </p:spPr>
      </p:pic>
      <p:pic>
        <p:nvPicPr>
          <p:cNvPr id="4" name="Picture 3" descr="image.png"/>
          <p:cNvPicPr>
            <a:picLocks noChangeAspect="1"/>
          </p:cNvPicPr>
          <p:nvPr/>
        </p:nvPicPr>
        <p:blipFill>
          <a:blip r:embed="rId3"/>
          <a:stretch>
            <a:fillRect/>
          </a:stretch>
        </p:blipFill>
        <p:spPr>
          <a:xfrm>
            <a:off x="609600" y="4381500"/>
            <a:ext cx="533400" cy="533400"/>
          </a:xfrm>
          <a:prstGeom prst="rect">
            <a:avLst/>
          </a:prstGeom>
        </p:spPr>
      </p:pic>
      <p:pic>
        <p:nvPicPr>
          <p:cNvPr id="5" name="Picture 4" descr="image.png"/>
          <p:cNvPicPr>
            <a:picLocks noChangeAspect="1"/>
          </p:cNvPicPr>
          <p:nvPr/>
        </p:nvPicPr>
        <p:blipFill>
          <a:blip r:embed="rId3"/>
          <a:stretch>
            <a:fillRect/>
          </a:stretch>
        </p:blipFill>
        <p:spPr>
          <a:xfrm>
            <a:off x="6324600" y="4381500"/>
            <a:ext cx="533400" cy="533400"/>
          </a:xfrm>
          <a:prstGeom prst="rect">
            <a:avLst/>
          </a:prstGeom>
        </p:spPr>
      </p:pic>
      <p:pic>
        <p:nvPicPr>
          <p:cNvPr id="6" name="Picture 5" descr="image.png"/>
          <p:cNvPicPr>
            <a:picLocks noChangeAspect="1"/>
          </p:cNvPicPr>
          <p:nvPr/>
        </p:nvPicPr>
        <p:blipFill>
          <a:blip r:embed="rId4"/>
          <a:stretch>
            <a:fillRect/>
          </a:stretch>
        </p:blipFill>
        <p:spPr>
          <a:xfrm>
            <a:off x="762000" y="2771775"/>
            <a:ext cx="228600" cy="228600"/>
          </a:xfrm>
          <a:prstGeom prst="rect">
            <a:avLst/>
          </a:prstGeom>
        </p:spPr>
      </p:pic>
      <p:pic>
        <p:nvPicPr>
          <p:cNvPr id="7" name="Picture 6" descr="image.png"/>
          <p:cNvPicPr>
            <a:picLocks noChangeAspect="1"/>
          </p:cNvPicPr>
          <p:nvPr/>
        </p:nvPicPr>
        <p:blipFill>
          <a:blip r:embed="rId5"/>
          <a:stretch>
            <a:fillRect/>
          </a:stretch>
        </p:blipFill>
        <p:spPr>
          <a:xfrm>
            <a:off x="6505575" y="2771775"/>
            <a:ext cx="171450" cy="228600"/>
          </a:xfrm>
          <a:prstGeom prst="rect">
            <a:avLst/>
          </a:prstGeom>
        </p:spPr>
      </p:pic>
      <p:pic>
        <p:nvPicPr>
          <p:cNvPr id="8" name="Picture 7" descr="image.png"/>
          <p:cNvPicPr>
            <a:picLocks noChangeAspect="1"/>
          </p:cNvPicPr>
          <p:nvPr/>
        </p:nvPicPr>
        <p:blipFill>
          <a:blip r:embed="rId6"/>
          <a:stretch>
            <a:fillRect/>
          </a:stretch>
        </p:blipFill>
        <p:spPr>
          <a:xfrm>
            <a:off x="776287" y="4533900"/>
            <a:ext cx="200025" cy="228600"/>
          </a:xfrm>
          <a:prstGeom prst="rect">
            <a:avLst/>
          </a:prstGeom>
        </p:spPr>
      </p:pic>
      <p:pic>
        <p:nvPicPr>
          <p:cNvPr id="9" name="Picture 8" descr="image.png"/>
          <p:cNvPicPr>
            <a:picLocks noChangeAspect="1"/>
          </p:cNvPicPr>
          <p:nvPr/>
        </p:nvPicPr>
        <p:blipFill>
          <a:blip r:embed="rId7"/>
          <a:stretch>
            <a:fillRect/>
          </a:stretch>
        </p:blipFill>
        <p:spPr>
          <a:xfrm>
            <a:off x="6462712" y="4533900"/>
            <a:ext cx="257175" cy="228600"/>
          </a:xfrm>
          <a:prstGeom prst="rect">
            <a:avLst/>
          </a:prstGeom>
        </p:spPr>
      </p:pic>
      <p:sp>
        <p:nvSpPr>
          <p:cNvPr id="10" name="TextBox 9"/>
          <p:cNvSpPr txBox="1"/>
          <p:nvPr/>
        </p:nvSpPr>
        <p:spPr>
          <a:xfrm>
            <a:off x="609600" y="1171575"/>
            <a:ext cx="11582400" cy="171450"/>
          </a:xfrm>
          <a:prstGeom prst="rect">
            <a:avLst/>
          </a:prstGeom>
          <a:noFill/>
        </p:spPr>
        <p:txBody>
          <a:bodyPr wrap="none" lIns="0" tIns="0" rIns="0" bIns="0" anchor="t">
            <a:spAutoFit/>
          </a:bodyPr>
          <a:lstStyle/>
          <a:p>
            <a:pPr algn="l"/>
            <a:r>
              <a:rPr sz="1050" b="1" i="0" u="none">
                <a:solidFill>
                  <a:srgbClr val="D97706"/>
                </a:solidFill>
                <a:latin typeface="Plus Jakarta Sans"/>
              </a:rPr>
              <a:t>CHỨC NĂNG PHẦN MỀM</a:t>
            </a:r>
          </a:p>
        </p:txBody>
      </p:sp>
      <p:sp>
        <p:nvSpPr>
          <p:cNvPr id="11" name="TextBox 10"/>
          <p:cNvSpPr txBox="1"/>
          <p:nvPr/>
        </p:nvSpPr>
        <p:spPr>
          <a:xfrm>
            <a:off x="609600" y="1495425"/>
            <a:ext cx="11582400" cy="514350"/>
          </a:xfrm>
          <a:prstGeom prst="rect">
            <a:avLst/>
          </a:prstGeom>
          <a:noFill/>
        </p:spPr>
        <p:txBody>
          <a:bodyPr wrap="none" lIns="0" tIns="0" rIns="0" bIns="0" anchor="t">
            <a:spAutoFit/>
          </a:bodyPr>
          <a:lstStyle/>
          <a:p>
            <a:pPr algn="l"/>
            <a:r>
              <a:rPr sz="3150" b="1" i="0" u="none">
                <a:solidFill>
                  <a:srgbClr val="064E3B"/>
                </a:solidFill>
                <a:latin typeface="Lora"/>
              </a:rPr>
              <a:t>Điểm nổi bật trong việc giải quyết nghiệp vụ</a:t>
            </a:r>
          </a:p>
        </p:txBody>
      </p:sp>
      <p:sp>
        <p:nvSpPr>
          <p:cNvPr id="12" name="TextBox 11"/>
          <p:cNvSpPr txBox="1"/>
          <p:nvPr/>
        </p:nvSpPr>
        <p:spPr>
          <a:xfrm>
            <a:off x="1371600" y="2619375"/>
            <a:ext cx="5900737" cy="285750"/>
          </a:xfrm>
          <a:prstGeom prst="rect">
            <a:avLst/>
          </a:prstGeom>
          <a:noFill/>
        </p:spPr>
        <p:txBody>
          <a:bodyPr wrap="none" lIns="0" tIns="0" rIns="0" bIns="0" anchor="t">
            <a:spAutoFit/>
          </a:bodyPr>
          <a:lstStyle/>
          <a:p>
            <a:pPr algn="l"/>
            <a:r>
              <a:rPr sz="1800" b="1" i="0" u="none">
                <a:solidFill>
                  <a:srgbClr val="292524"/>
                </a:solidFill>
                <a:latin typeface="Plus Jakarta Sans"/>
              </a:rPr>
              <a:t>Bộ Lọc Đa Chiều (Search &amp; Filter)</a:t>
            </a:r>
          </a:p>
        </p:txBody>
      </p:sp>
      <p:sp>
        <p:nvSpPr>
          <p:cNvPr id="13" name="TextBox 12"/>
          <p:cNvSpPr txBox="1"/>
          <p:nvPr/>
        </p:nvSpPr>
        <p:spPr>
          <a:xfrm>
            <a:off x="1371600" y="2981325"/>
            <a:ext cx="4591050" cy="6858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Hỗ trợ tìm kiếm Like Operator dựa trên Tên món ăn và kết hợp Dropdown list truy xuất theo Foreign Key của Danh mục (Category).</a:t>
            </a:r>
          </a:p>
        </p:txBody>
      </p:sp>
      <p:sp>
        <p:nvSpPr>
          <p:cNvPr id="14" name="TextBox 13"/>
          <p:cNvSpPr txBox="1"/>
          <p:nvPr/>
        </p:nvSpPr>
        <p:spPr>
          <a:xfrm>
            <a:off x="1371600" y="3743325"/>
            <a:ext cx="5619750" cy="180975"/>
          </a:xfrm>
          <a:prstGeom prst="rect">
            <a:avLst/>
          </a:prstGeom>
          <a:noFill/>
        </p:spPr>
        <p:txBody>
          <a:bodyPr wrap="none" lIns="0" tIns="0" rIns="0" bIns="0" anchor="t">
            <a:spAutoFit/>
          </a:bodyPr>
          <a:lstStyle/>
          <a:p>
            <a:pPr algn="l"/>
            <a:r>
              <a:rPr sz="1125" b="1" i="0" u="none">
                <a:solidFill>
                  <a:srgbClr val="064E3B"/>
                </a:solidFill>
                <a:latin typeface="Plus Jakarta Sans"/>
              </a:rPr>
              <a:t>&gt; Triển khai bằng Stored Procedure hoặc Parameterized Query.</a:t>
            </a:r>
          </a:p>
        </p:txBody>
      </p:sp>
      <p:sp>
        <p:nvSpPr>
          <p:cNvPr id="15" name="TextBox 14"/>
          <p:cNvSpPr txBox="1"/>
          <p:nvPr/>
        </p:nvSpPr>
        <p:spPr>
          <a:xfrm>
            <a:off x="7086600" y="2619375"/>
            <a:ext cx="5105400" cy="285750"/>
          </a:xfrm>
          <a:prstGeom prst="rect">
            <a:avLst/>
          </a:prstGeom>
          <a:noFill/>
        </p:spPr>
        <p:txBody>
          <a:bodyPr wrap="none" lIns="0" tIns="0" rIns="0" bIns="0" anchor="t">
            <a:spAutoFit/>
          </a:bodyPr>
          <a:lstStyle/>
          <a:p>
            <a:pPr algn="l"/>
            <a:r>
              <a:rPr sz="1800" b="1" i="0" u="none">
                <a:solidFill>
                  <a:srgbClr val="292524"/>
                </a:solidFill>
                <a:latin typeface="Plus Jakarta Sans"/>
              </a:rPr>
              <a:t>Bộ Sưu Tập (Bookmark/Save)</a:t>
            </a:r>
          </a:p>
        </p:txBody>
      </p:sp>
      <p:sp>
        <p:nvSpPr>
          <p:cNvPr id="16" name="TextBox 15"/>
          <p:cNvSpPr txBox="1"/>
          <p:nvPr/>
        </p:nvSpPr>
        <p:spPr>
          <a:xfrm>
            <a:off x="7086600" y="2981325"/>
            <a:ext cx="4591050" cy="6858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Tạo bảng Many-to-Many liên kết giữa UserID và RecipeID, cho phép người dùng lưu trữ nhanh công thức yêu thích vào không gian cá nhân.</a:t>
            </a:r>
          </a:p>
        </p:txBody>
      </p:sp>
      <p:sp>
        <p:nvSpPr>
          <p:cNvPr id="17" name="TextBox 16"/>
          <p:cNvSpPr txBox="1"/>
          <p:nvPr/>
        </p:nvSpPr>
        <p:spPr>
          <a:xfrm>
            <a:off x="7086600" y="3743325"/>
            <a:ext cx="5105400" cy="180975"/>
          </a:xfrm>
          <a:prstGeom prst="rect">
            <a:avLst/>
          </a:prstGeom>
          <a:noFill/>
        </p:spPr>
        <p:txBody>
          <a:bodyPr wrap="none" lIns="0" tIns="0" rIns="0" bIns="0" anchor="t">
            <a:spAutoFit/>
          </a:bodyPr>
          <a:lstStyle/>
          <a:p>
            <a:pPr algn="l"/>
            <a:r>
              <a:rPr sz="1125" b="1" i="0" u="none">
                <a:solidFill>
                  <a:srgbClr val="064E3B"/>
                </a:solidFill>
                <a:latin typeface="Plus Jakarta Sans"/>
              </a:rPr>
              <a:t>&gt; Xử lý trạng thái nút Save/Unsave qua AJAX Call.</a:t>
            </a:r>
          </a:p>
        </p:txBody>
      </p:sp>
      <p:sp>
        <p:nvSpPr>
          <p:cNvPr id="18" name="TextBox 17"/>
          <p:cNvSpPr txBox="1"/>
          <p:nvPr/>
        </p:nvSpPr>
        <p:spPr>
          <a:xfrm>
            <a:off x="1371600" y="4381500"/>
            <a:ext cx="5900737" cy="285750"/>
          </a:xfrm>
          <a:prstGeom prst="rect">
            <a:avLst/>
          </a:prstGeom>
          <a:noFill/>
        </p:spPr>
        <p:txBody>
          <a:bodyPr wrap="none" lIns="0" tIns="0" rIns="0" bIns="0" anchor="t">
            <a:spAutoFit/>
          </a:bodyPr>
          <a:lstStyle/>
          <a:p>
            <a:pPr algn="l"/>
            <a:r>
              <a:rPr sz="1800" b="1" i="0" u="none">
                <a:solidFill>
                  <a:srgbClr val="292524"/>
                </a:solidFill>
                <a:latin typeface="Plus Jakarta Sans"/>
              </a:rPr>
              <a:t>Quy Trình Nhập Liệu Động (Dynamic UI)</a:t>
            </a:r>
          </a:p>
        </p:txBody>
      </p:sp>
      <p:sp>
        <p:nvSpPr>
          <p:cNvPr id="19" name="TextBox 18"/>
          <p:cNvSpPr txBox="1"/>
          <p:nvPr/>
        </p:nvSpPr>
        <p:spPr>
          <a:xfrm>
            <a:off x="1371600" y="4743450"/>
            <a:ext cx="4591050" cy="6858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Thay vì textarea nhàm chán, ứng dụng cho phép bấm nút "Thêm nguyên liệu/Thêm bước" để generate HTML elements phía Client, sau đó parse về Server.</a:t>
            </a:r>
          </a:p>
        </p:txBody>
      </p:sp>
      <p:sp>
        <p:nvSpPr>
          <p:cNvPr id="20" name="TextBox 19"/>
          <p:cNvSpPr txBox="1"/>
          <p:nvPr/>
        </p:nvSpPr>
        <p:spPr>
          <a:xfrm>
            <a:off x="1371600" y="5505450"/>
            <a:ext cx="5619750" cy="180975"/>
          </a:xfrm>
          <a:prstGeom prst="rect">
            <a:avLst/>
          </a:prstGeom>
          <a:noFill/>
        </p:spPr>
        <p:txBody>
          <a:bodyPr wrap="none" lIns="0" tIns="0" rIns="0" bIns="0" anchor="t">
            <a:spAutoFit/>
          </a:bodyPr>
          <a:lstStyle/>
          <a:p>
            <a:pPr algn="l"/>
            <a:r>
              <a:rPr sz="1125" b="1" i="0" u="none">
                <a:solidFill>
                  <a:srgbClr val="064E3B"/>
                </a:solidFill>
                <a:latin typeface="Plus Jakarta Sans"/>
              </a:rPr>
              <a:t>&gt; Tối ưu hóa UI/UX khi Submit Form phức tạp.</a:t>
            </a:r>
          </a:p>
        </p:txBody>
      </p:sp>
      <p:sp>
        <p:nvSpPr>
          <p:cNvPr id="21" name="TextBox 20"/>
          <p:cNvSpPr txBox="1"/>
          <p:nvPr/>
        </p:nvSpPr>
        <p:spPr>
          <a:xfrm>
            <a:off x="7086600" y="4381500"/>
            <a:ext cx="5105400" cy="285750"/>
          </a:xfrm>
          <a:prstGeom prst="rect">
            <a:avLst/>
          </a:prstGeom>
          <a:noFill/>
        </p:spPr>
        <p:txBody>
          <a:bodyPr wrap="none" lIns="0" tIns="0" rIns="0" bIns="0" anchor="t">
            <a:spAutoFit/>
          </a:bodyPr>
          <a:lstStyle/>
          <a:p>
            <a:pPr algn="l"/>
            <a:r>
              <a:rPr sz="1800" b="1" i="0" u="none">
                <a:solidFill>
                  <a:srgbClr val="292524"/>
                </a:solidFill>
                <a:latin typeface="Plus Jakarta Sans"/>
              </a:rPr>
              <a:t>Dashboard Quản Trị (Admin Panel)</a:t>
            </a:r>
          </a:p>
        </p:txBody>
      </p:sp>
      <p:sp>
        <p:nvSpPr>
          <p:cNvPr id="22" name="TextBox 21"/>
          <p:cNvSpPr txBox="1"/>
          <p:nvPr/>
        </p:nvSpPr>
        <p:spPr>
          <a:xfrm>
            <a:off x="7086600" y="4743450"/>
            <a:ext cx="4591050" cy="685800"/>
          </a:xfrm>
          <a:prstGeom prst="rect">
            <a:avLst/>
          </a:prstGeom>
          <a:noFill/>
        </p:spPr>
        <p:txBody>
          <a:bodyPr wrap="square" lIns="0" tIns="0" rIns="0" bIns="0" anchor="t">
            <a:spAutoFit/>
          </a:bodyPr>
          <a:lstStyle/>
          <a:p>
            <a:pPr algn="l">
              <a:lnSpc>
                <a:spcPts val="1800"/>
              </a:lnSpc>
            </a:pPr>
            <a:r>
              <a:rPr sz="1200" b="0" i="0" u="none">
                <a:solidFill>
                  <a:srgbClr val="57534E"/>
                </a:solidFill>
                <a:latin typeface="Plus Jakarta Sans"/>
              </a:rPr>
              <a:t>Khu vực chuyên biệt (có kiểm tra Role = Admin) dùng GridView tích hợp phân trang (Paging) để duyệt nội dung, xóa bài vi phạm và quản lý danh mục.</a:t>
            </a:r>
          </a:p>
        </p:txBody>
      </p:sp>
      <p:sp>
        <p:nvSpPr>
          <p:cNvPr id="23" name="TextBox 22"/>
          <p:cNvSpPr txBox="1"/>
          <p:nvPr/>
        </p:nvSpPr>
        <p:spPr>
          <a:xfrm>
            <a:off x="7086600" y="5505450"/>
            <a:ext cx="5105400" cy="180975"/>
          </a:xfrm>
          <a:prstGeom prst="rect">
            <a:avLst/>
          </a:prstGeom>
          <a:noFill/>
        </p:spPr>
        <p:txBody>
          <a:bodyPr wrap="none" lIns="0" tIns="0" rIns="0" bIns="0" anchor="t">
            <a:spAutoFit/>
          </a:bodyPr>
          <a:lstStyle/>
          <a:p>
            <a:pPr algn="l"/>
            <a:r>
              <a:rPr sz="1125" b="1" i="0" u="none">
                <a:solidFill>
                  <a:srgbClr val="064E3B"/>
                </a:solidFill>
                <a:latin typeface="Plus Jakarta Sans"/>
              </a:rPr>
              <a:t>&gt; Đảm bảo hệ thống phát triển nội dung sạch.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ectangle 1"/>
          <p:cNvSpPr/>
          <p:nvPr/>
        </p:nvSpPr>
        <p:spPr>
          <a:xfrm>
            <a:off x="0" y="0"/>
            <a:ext cx="6705600"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6705600" y="0"/>
            <a:ext cx="5486400" cy="6858000"/>
          </a:xfrm>
          <a:prstGeom prst="rect">
            <a:avLst/>
          </a:prstGeom>
        </p:spPr>
      </p:pic>
      <p:pic>
        <p:nvPicPr>
          <p:cNvPr id="4" name="Picture 3" descr="image.png"/>
          <p:cNvPicPr>
            <a:picLocks noChangeAspect="1"/>
          </p:cNvPicPr>
          <p:nvPr/>
        </p:nvPicPr>
        <p:blipFill>
          <a:blip r:embed="rId3"/>
          <a:stretch>
            <a:fillRect/>
          </a:stretch>
        </p:blipFill>
        <p:spPr>
          <a:xfrm>
            <a:off x="6705600" y="0"/>
            <a:ext cx="5486400" cy="6858000"/>
          </a:xfrm>
          <a:prstGeom prst="rect">
            <a:avLst/>
          </a:prstGeom>
        </p:spPr>
      </p:pic>
      <p:pic>
        <p:nvPicPr>
          <p:cNvPr id="5" name="Picture 4" descr="image.png"/>
          <p:cNvPicPr>
            <a:picLocks noChangeAspect="1"/>
          </p:cNvPicPr>
          <p:nvPr/>
        </p:nvPicPr>
        <p:blipFill>
          <a:blip r:embed="rId4"/>
          <a:stretch>
            <a:fillRect/>
          </a:stretch>
        </p:blipFill>
        <p:spPr>
          <a:xfrm>
            <a:off x="762000" y="2561183"/>
            <a:ext cx="152400" cy="180975"/>
          </a:xfrm>
          <a:prstGeom prst="rect">
            <a:avLst/>
          </a:prstGeom>
        </p:spPr>
      </p:pic>
      <p:pic>
        <p:nvPicPr>
          <p:cNvPr id="6" name="Picture 5" descr="image.png"/>
          <p:cNvPicPr>
            <a:picLocks noChangeAspect="1"/>
          </p:cNvPicPr>
          <p:nvPr/>
        </p:nvPicPr>
        <p:blipFill>
          <a:blip r:embed="rId4"/>
          <a:stretch>
            <a:fillRect/>
          </a:stretch>
        </p:blipFill>
        <p:spPr>
          <a:xfrm>
            <a:off x="762000" y="3742283"/>
            <a:ext cx="152400" cy="180975"/>
          </a:xfrm>
          <a:prstGeom prst="rect">
            <a:avLst/>
          </a:prstGeom>
        </p:spPr>
      </p:pic>
      <p:pic>
        <p:nvPicPr>
          <p:cNvPr id="7" name="Picture 6" descr="image.png"/>
          <p:cNvPicPr>
            <a:picLocks noChangeAspect="1"/>
          </p:cNvPicPr>
          <p:nvPr/>
        </p:nvPicPr>
        <p:blipFill>
          <a:blip r:embed="rId4"/>
          <a:stretch>
            <a:fillRect/>
          </a:stretch>
        </p:blipFill>
        <p:spPr>
          <a:xfrm>
            <a:off x="762000" y="4923383"/>
            <a:ext cx="152400" cy="180975"/>
          </a:xfrm>
          <a:prstGeom prst="rect">
            <a:avLst/>
          </a:prstGeom>
        </p:spPr>
      </p:pic>
      <p:sp>
        <p:nvSpPr>
          <p:cNvPr id="8" name="TextBox 7"/>
          <p:cNvSpPr txBox="1"/>
          <p:nvPr/>
        </p:nvSpPr>
        <p:spPr>
          <a:xfrm>
            <a:off x="762000" y="786854"/>
            <a:ext cx="6477000" cy="171450"/>
          </a:xfrm>
          <a:prstGeom prst="rect">
            <a:avLst/>
          </a:prstGeom>
          <a:noFill/>
        </p:spPr>
        <p:txBody>
          <a:bodyPr wrap="none" lIns="0" tIns="0" rIns="0" bIns="0" anchor="t">
            <a:spAutoFit/>
          </a:bodyPr>
          <a:lstStyle/>
          <a:p>
            <a:pPr algn="l"/>
            <a:r>
              <a:rPr sz="1050" b="1" i="0" u="none">
                <a:solidFill>
                  <a:srgbClr val="D97706"/>
                </a:solidFill>
                <a:latin typeface="Plus Jakarta Sans"/>
              </a:rPr>
              <a:t>ĐÁNH GIÁ UX/UI</a:t>
            </a:r>
          </a:p>
        </p:txBody>
      </p:sp>
      <p:sp>
        <p:nvSpPr>
          <p:cNvPr id="9" name="TextBox 8"/>
          <p:cNvSpPr txBox="1"/>
          <p:nvPr/>
        </p:nvSpPr>
        <p:spPr>
          <a:xfrm>
            <a:off x="762000" y="1110704"/>
            <a:ext cx="5540692" cy="959941"/>
          </a:xfrm>
          <a:prstGeom prst="rect">
            <a:avLst/>
          </a:prstGeom>
          <a:noFill/>
        </p:spPr>
        <p:txBody>
          <a:bodyPr wrap="square" lIns="0" tIns="0" rIns="0" bIns="0" anchor="t">
            <a:spAutoFit/>
          </a:bodyPr>
          <a:lstStyle/>
          <a:p>
            <a:pPr algn="l">
              <a:lnSpc>
                <a:spcPts val="3779"/>
              </a:lnSpc>
            </a:pPr>
            <a:r>
              <a:rPr sz="3150" b="1" i="0" u="none">
                <a:solidFill>
                  <a:srgbClr val="064E3B"/>
                </a:solidFill>
                <a:latin typeface="Lora"/>
              </a:rPr>
              <a:t>Thiết kế giao diện hướng trải nghiệm người dùng</a:t>
            </a:r>
          </a:p>
        </p:txBody>
      </p:sp>
      <p:sp>
        <p:nvSpPr>
          <p:cNvPr id="10" name="TextBox 9"/>
          <p:cNvSpPr txBox="1"/>
          <p:nvPr/>
        </p:nvSpPr>
        <p:spPr>
          <a:xfrm>
            <a:off x="1104900" y="2527845"/>
            <a:ext cx="4933950" cy="952500"/>
          </a:xfrm>
          <a:prstGeom prst="rect">
            <a:avLst/>
          </a:prstGeom>
          <a:noFill/>
        </p:spPr>
        <p:txBody>
          <a:bodyPr wrap="square" lIns="0" tIns="0" rIns="0" bIns="0" anchor="t">
            <a:spAutoFit/>
          </a:bodyPr>
          <a:lstStyle/>
          <a:p>
            <a:pPr algn="l"/>
            <a:r>
              <a:rPr sz="1350" b="1" i="0" u="none">
                <a:solidFill>
                  <a:srgbClr val="D97706"/>
                </a:solidFill>
                <a:latin typeface="Plus Jakarta Sans"/>
              </a:rPr>
              <a:t>Card-Based UI Design: Bố cục hiển thị danh sách công thức theo dạng thẻ. Mỗi thẻ gói gọn Hình ảnh (Thumbnail), Tiêu đề, và Đánh giá sao, giúp thao tác Scanning (đọc lướt) nhanh hơn.</a:t>
            </a:r>
          </a:p>
        </p:txBody>
      </p:sp>
      <p:sp>
        <p:nvSpPr>
          <p:cNvPr id="11" name="TextBox 10"/>
          <p:cNvSpPr txBox="1"/>
          <p:nvPr/>
        </p:nvSpPr>
        <p:spPr>
          <a:xfrm>
            <a:off x="1104900" y="3708945"/>
            <a:ext cx="4933950" cy="952500"/>
          </a:xfrm>
          <a:prstGeom prst="rect">
            <a:avLst/>
          </a:prstGeom>
          <a:noFill/>
        </p:spPr>
        <p:txBody>
          <a:bodyPr wrap="square" lIns="0" tIns="0" rIns="0" bIns="0" anchor="t">
            <a:spAutoFit/>
          </a:bodyPr>
          <a:lstStyle/>
          <a:p>
            <a:pPr algn="l"/>
            <a:r>
              <a:rPr sz="1350" b="1" i="0" u="none">
                <a:solidFill>
                  <a:srgbClr val="D97706"/>
                </a:solidFill>
                <a:latin typeface="Plus Jakarta Sans"/>
              </a:rPr>
              <a:t>Responsive Web Design: Sử dụng Media Queries và Bootstrap Grid System (col-md, col-lg) để các cột tự động dàn lại thành 1 cột trên điện thoại (Mobile-first approach).</a:t>
            </a:r>
          </a:p>
        </p:txBody>
      </p:sp>
      <p:sp>
        <p:nvSpPr>
          <p:cNvPr id="12" name="TextBox 11"/>
          <p:cNvSpPr txBox="1"/>
          <p:nvPr/>
        </p:nvSpPr>
        <p:spPr>
          <a:xfrm>
            <a:off x="1104900" y="4890045"/>
            <a:ext cx="4933950" cy="952500"/>
          </a:xfrm>
          <a:prstGeom prst="rect">
            <a:avLst/>
          </a:prstGeom>
          <a:noFill/>
        </p:spPr>
        <p:txBody>
          <a:bodyPr wrap="square" lIns="0" tIns="0" rIns="0" bIns="0" anchor="t">
            <a:spAutoFit/>
          </a:bodyPr>
          <a:lstStyle/>
          <a:p>
            <a:pPr algn="l"/>
            <a:r>
              <a:rPr sz="1350" b="1" i="0" u="none">
                <a:solidFill>
                  <a:srgbClr val="D97706"/>
                </a:solidFill>
                <a:latin typeface="Plus Jakarta Sans"/>
              </a:rPr>
              <a:t>Tối ưu hóa hình ảnh: Các ảnh tải lên từ form FileUpload được xử lý lưu trữ vào folder server, chỉ lưu đường dẫn ảo (Virtual Path) vào CSDL giúp giảm tải dung lượng database.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64E3B"/>
        </a:solidFill>
        <a:effectLst/>
      </p:bgPr>
    </p:bg>
    <p:spTree>
      <p:nvGrpSpPr>
        <p:cNvPr id="1" name=""/>
        <p:cNvGrpSpPr/>
        <p:nvPr/>
      </p:nvGrpSpPr>
      <p:grpSpPr>
        <a:xfrm>
          <a:off x="0" y="0"/>
          <a:ext cx="0" cy="0"/>
          <a:chOff x="0" y="0"/>
          <a:chExt cx="0" cy="0"/>
        </a:xfrm>
      </p:grpSpPr>
      <p:sp>
        <p:nvSpPr>
          <p:cNvPr id="2" name="Rounded Rectangle 1"/>
          <p:cNvSpPr/>
          <p:nvPr/>
        </p:nvSpPr>
        <p:spPr>
          <a:xfrm>
            <a:off x="609600" y="2209800"/>
            <a:ext cx="3454449" cy="3886200"/>
          </a:xfrm>
          <a:prstGeom prst="roundRect">
            <a:avLst>
              <a:gd name="adj" fmla="val 3308"/>
            </a:avLst>
          </a:prstGeom>
          <a:solidFill>
            <a:srgbClr val="125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68849" y="2209800"/>
            <a:ext cx="3454449" cy="3886200"/>
          </a:xfrm>
          <a:prstGeom prst="roundRect">
            <a:avLst>
              <a:gd name="adj" fmla="val 3308"/>
            </a:avLst>
          </a:prstGeom>
          <a:solidFill>
            <a:srgbClr val="125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128099" y="2209800"/>
            <a:ext cx="3454449" cy="3886200"/>
          </a:xfrm>
          <a:prstGeom prst="roundRect">
            <a:avLst>
              <a:gd name="adj" fmla="val 3308"/>
            </a:avLst>
          </a:prstGeom>
          <a:solidFill>
            <a:srgbClr val="1257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09600" y="2209800"/>
            <a:ext cx="3454449" cy="38100"/>
          </a:xfrm>
          <a:prstGeom prst="rect">
            <a:avLst/>
          </a:prstGeom>
          <a:solidFill>
            <a:srgbClr val="A7F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68849" y="2209800"/>
            <a:ext cx="3454449" cy="38100"/>
          </a:xfrm>
          <a:prstGeom prst="rect">
            <a:avLst/>
          </a:prstGeom>
          <a:solidFill>
            <a:srgbClr val="FCD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8128099" y="2209800"/>
            <a:ext cx="3454449" cy="381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9600" y="762000"/>
            <a:ext cx="11582400" cy="171450"/>
          </a:xfrm>
          <a:prstGeom prst="rect">
            <a:avLst/>
          </a:prstGeom>
          <a:noFill/>
        </p:spPr>
        <p:txBody>
          <a:bodyPr wrap="none" lIns="0" tIns="0" rIns="0" bIns="0" anchor="t">
            <a:spAutoFit/>
          </a:bodyPr>
          <a:lstStyle/>
          <a:p>
            <a:pPr algn="l"/>
            <a:r>
              <a:rPr sz="1050" b="1" i="0" u="none">
                <a:solidFill>
                  <a:srgbClr val="D97706"/>
                </a:solidFill>
                <a:latin typeface="Plus Jakarta Sans"/>
              </a:rPr>
              <a:t>HỆ THỐNG PHÂN QUYỀN (AUTHORIZATION)</a:t>
            </a:r>
          </a:p>
        </p:txBody>
      </p:sp>
      <p:sp>
        <p:nvSpPr>
          <p:cNvPr id="9" name="TextBox 8"/>
          <p:cNvSpPr txBox="1"/>
          <p:nvPr/>
        </p:nvSpPr>
        <p:spPr>
          <a:xfrm>
            <a:off x="609600" y="1085850"/>
            <a:ext cx="11582400" cy="514350"/>
          </a:xfrm>
          <a:prstGeom prst="rect">
            <a:avLst/>
          </a:prstGeom>
          <a:noFill/>
        </p:spPr>
        <p:txBody>
          <a:bodyPr wrap="none" lIns="0" tIns="0" rIns="0" bIns="0" anchor="t">
            <a:spAutoFit/>
          </a:bodyPr>
          <a:lstStyle/>
          <a:p>
            <a:pPr algn="l"/>
            <a:r>
              <a:rPr sz="3150" b="1" i="0" u="none" dirty="0" err="1">
                <a:solidFill>
                  <a:srgbClr val="FDFBF7"/>
                </a:solidFill>
                <a:latin typeface="Lora"/>
              </a:rPr>
              <a:t>Thiết</a:t>
            </a:r>
            <a:r>
              <a:rPr sz="3150" b="1" i="0" u="none" dirty="0">
                <a:solidFill>
                  <a:srgbClr val="FDFBF7"/>
                </a:solidFill>
                <a:latin typeface="Lora"/>
              </a:rPr>
              <a:t> </a:t>
            </a:r>
            <a:r>
              <a:rPr sz="3150" b="1" i="0" u="none" dirty="0" err="1">
                <a:solidFill>
                  <a:srgbClr val="FDFBF7"/>
                </a:solidFill>
                <a:latin typeface="Lora"/>
              </a:rPr>
              <a:t>lập</a:t>
            </a:r>
            <a:r>
              <a:rPr sz="3150" b="1" i="0" u="none" dirty="0">
                <a:solidFill>
                  <a:srgbClr val="FDFBF7"/>
                </a:solidFill>
                <a:latin typeface="Lora"/>
              </a:rPr>
              <a:t> ma </a:t>
            </a:r>
            <a:r>
              <a:rPr sz="3150" b="1" i="0" u="none" dirty="0" err="1">
                <a:solidFill>
                  <a:srgbClr val="FDFBF7"/>
                </a:solidFill>
                <a:latin typeface="Lora"/>
              </a:rPr>
              <a:t>trận</a:t>
            </a:r>
            <a:r>
              <a:rPr sz="3150" b="1" i="0" u="none" dirty="0">
                <a:solidFill>
                  <a:srgbClr val="FDFBF7"/>
                </a:solidFill>
                <a:latin typeface="Lora"/>
              </a:rPr>
              <a:t> </a:t>
            </a:r>
            <a:r>
              <a:rPr sz="3150" b="1" i="0" u="none" dirty="0" err="1">
                <a:solidFill>
                  <a:srgbClr val="FDFBF7"/>
                </a:solidFill>
                <a:latin typeface="Lora"/>
              </a:rPr>
              <a:t>quyền</a:t>
            </a:r>
            <a:r>
              <a:rPr sz="3150" b="1" i="0" u="none" dirty="0">
                <a:solidFill>
                  <a:srgbClr val="FDFBF7"/>
                </a:solidFill>
                <a:latin typeface="Lora"/>
              </a:rPr>
              <a:t> </a:t>
            </a:r>
            <a:r>
              <a:rPr sz="3150" b="1" i="0" u="none" dirty="0" err="1">
                <a:solidFill>
                  <a:srgbClr val="FDFBF7"/>
                </a:solidFill>
                <a:latin typeface="Lora"/>
              </a:rPr>
              <a:t>hạn</a:t>
            </a:r>
            <a:r>
              <a:rPr sz="3150" b="1" i="0" u="none" dirty="0">
                <a:solidFill>
                  <a:srgbClr val="FDFBF7"/>
                </a:solidFill>
                <a:latin typeface="Lora"/>
              </a:rPr>
              <a:t> </a:t>
            </a:r>
            <a:r>
              <a:rPr sz="3150" b="1" i="0" u="none" dirty="0" err="1">
                <a:solidFill>
                  <a:srgbClr val="FDFBF7"/>
                </a:solidFill>
                <a:latin typeface="Lora"/>
              </a:rPr>
              <a:t>tác</a:t>
            </a:r>
            <a:r>
              <a:rPr sz="3150" b="1" i="0" u="none" dirty="0">
                <a:solidFill>
                  <a:srgbClr val="FDFBF7"/>
                </a:solidFill>
                <a:latin typeface="Lora"/>
              </a:rPr>
              <a:t> </a:t>
            </a:r>
            <a:r>
              <a:rPr sz="3150" b="1" i="0" u="none" dirty="0" err="1">
                <a:solidFill>
                  <a:srgbClr val="FDFBF7"/>
                </a:solidFill>
                <a:latin typeface="Lora"/>
              </a:rPr>
              <a:t>nhân</a:t>
            </a:r>
            <a:endParaRPr sz="3150" b="1" i="0" u="none" dirty="0">
              <a:solidFill>
                <a:srgbClr val="FDFBF7"/>
              </a:solidFill>
              <a:latin typeface="Lora"/>
            </a:endParaRPr>
          </a:p>
        </p:txBody>
      </p:sp>
      <p:sp>
        <p:nvSpPr>
          <p:cNvPr id="10" name="TextBox 9"/>
          <p:cNvSpPr txBox="1"/>
          <p:nvPr/>
        </p:nvSpPr>
        <p:spPr>
          <a:xfrm>
            <a:off x="990600" y="2628900"/>
            <a:ext cx="3533840" cy="285750"/>
          </a:xfrm>
          <a:prstGeom prst="rect">
            <a:avLst/>
          </a:prstGeom>
          <a:noFill/>
        </p:spPr>
        <p:txBody>
          <a:bodyPr wrap="none" lIns="0" tIns="0" rIns="0" bIns="0" anchor="t">
            <a:spAutoFit/>
          </a:bodyPr>
          <a:lstStyle/>
          <a:p>
            <a:pPr algn="l"/>
            <a:r>
              <a:rPr sz="1800" b="1" i="0" u="none">
                <a:solidFill>
                  <a:srgbClr val="A7F3D0"/>
                </a:solidFill>
                <a:latin typeface="Plus Jakarta Sans"/>
              </a:rPr>
              <a:t>Khách Vãng Lai (Guest)</a:t>
            </a:r>
          </a:p>
        </p:txBody>
      </p:sp>
      <p:sp>
        <p:nvSpPr>
          <p:cNvPr id="11" name="TextBox 10"/>
          <p:cNvSpPr txBox="1"/>
          <p:nvPr/>
        </p:nvSpPr>
        <p:spPr>
          <a:xfrm>
            <a:off x="990600" y="3143250"/>
            <a:ext cx="2787699" cy="685800"/>
          </a:xfrm>
          <a:prstGeom prst="rect">
            <a:avLst/>
          </a:prstGeom>
          <a:noFill/>
        </p:spPr>
        <p:txBody>
          <a:bodyPr wrap="square" lIns="0" tIns="0" rIns="0" bIns="0" anchor="t">
            <a:spAutoFit/>
          </a:bodyPr>
          <a:lstStyle/>
          <a:p>
            <a:pPr algn="l">
              <a:lnSpc>
                <a:spcPts val="1800"/>
              </a:lnSpc>
            </a:pPr>
            <a:r>
              <a:rPr sz="1200" b="0" i="0" u="none">
                <a:solidFill>
                  <a:srgbClr val="D1D5DB"/>
                </a:solidFill>
                <a:latin typeface="Plus Jakarta Sans"/>
              </a:rPr>
              <a:t>Nhóm đối tượng chưa được cấp phiên đăng nhập (Session == null). Bị hạn chế quyền Ghi (Write).</a:t>
            </a:r>
          </a:p>
        </p:txBody>
      </p:sp>
      <p:sp>
        <p:nvSpPr>
          <p:cNvPr id="12" name="TextBox 11"/>
          <p:cNvSpPr txBox="1"/>
          <p:nvPr/>
        </p:nvSpPr>
        <p:spPr>
          <a:xfrm>
            <a:off x="4749849" y="2628900"/>
            <a:ext cx="2927084" cy="571500"/>
          </a:xfrm>
          <a:prstGeom prst="rect">
            <a:avLst/>
          </a:prstGeom>
          <a:noFill/>
        </p:spPr>
        <p:txBody>
          <a:bodyPr wrap="square" lIns="0" tIns="0" rIns="0" bIns="0" anchor="t">
            <a:spAutoFit/>
          </a:bodyPr>
          <a:lstStyle/>
          <a:p>
            <a:pPr algn="l"/>
            <a:r>
              <a:rPr sz="1800" b="1" i="0" u="none">
                <a:solidFill>
                  <a:srgbClr val="FCD34D"/>
                </a:solidFill>
                <a:latin typeface="Plus Jakarta Sans"/>
              </a:rPr>
              <a:t>Thành Viên (Registered User)</a:t>
            </a:r>
          </a:p>
        </p:txBody>
      </p:sp>
      <p:sp>
        <p:nvSpPr>
          <p:cNvPr id="13" name="TextBox 12"/>
          <p:cNvSpPr txBox="1"/>
          <p:nvPr/>
        </p:nvSpPr>
        <p:spPr>
          <a:xfrm>
            <a:off x="4749849" y="3429000"/>
            <a:ext cx="2787699" cy="685800"/>
          </a:xfrm>
          <a:prstGeom prst="rect">
            <a:avLst/>
          </a:prstGeom>
          <a:noFill/>
        </p:spPr>
        <p:txBody>
          <a:bodyPr wrap="square" lIns="0" tIns="0" rIns="0" bIns="0" anchor="t">
            <a:spAutoFit/>
          </a:bodyPr>
          <a:lstStyle/>
          <a:p>
            <a:pPr algn="l">
              <a:lnSpc>
                <a:spcPts val="1800"/>
              </a:lnSpc>
            </a:pPr>
            <a:r>
              <a:rPr sz="1200" b="0" i="0" u="none">
                <a:solidFill>
                  <a:srgbClr val="D1D5DB"/>
                </a:solidFill>
                <a:latin typeface="Plus Jakarta Sans"/>
              </a:rPr>
              <a:t>Đã cấp Session("UserID"). Có toàn quyền CRUD đối với chính dữ liệu mà họ tạo ra.</a:t>
            </a:r>
          </a:p>
        </p:txBody>
      </p:sp>
      <p:sp>
        <p:nvSpPr>
          <p:cNvPr id="14" name="TextBox 13"/>
          <p:cNvSpPr txBox="1"/>
          <p:nvPr/>
        </p:nvSpPr>
        <p:spPr>
          <a:xfrm>
            <a:off x="8509099" y="2628900"/>
            <a:ext cx="3533840" cy="285750"/>
          </a:xfrm>
          <a:prstGeom prst="rect">
            <a:avLst/>
          </a:prstGeom>
          <a:noFill/>
        </p:spPr>
        <p:txBody>
          <a:bodyPr wrap="none" lIns="0" tIns="0" rIns="0" bIns="0" anchor="t">
            <a:spAutoFit/>
          </a:bodyPr>
          <a:lstStyle/>
          <a:p>
            <a:pPr algn="l"/>
            <a:r>
              <a:rPr sz="1800" b="1" i="0" u="none">
                <a:solidFill>
                  <a:srgbClr val="F8FAFC"/>
                </a:solidFill>
                <a:latin typeface="Plus Jakarta Sans"/>
              </a:rPr>
              <a:t>Quản Trị (Administrator)</a:t>
            </a:r>
          </a:p>
        </p:txBody>
      </p:sp>
      <p:sp>
        <p:nvSpPr>
          <p:cNvPr id="15" name="TextBox 14"/>
          <p:cNvSpPr txBox="1"/>
          <p:nvPr/>
        </p:nvSpPr>
        <p:spPr>
          <a:xfrm>
            <a:off x="8509099" y="3143250"/>
            <a:ext cx="2787699" cy="685800"/>
          </a:xfrm>
          <a:prstGeom prst="rect">
            <a:avLst/>
          </a:prstGeom>
          <a:noFill/>
        </p:spPr>
        <p:txBody>
          <a:bodyPr wrap="square" lIns="0" tIns="0" rIns="0" bIns="0" anchor="t">
            <a:spAutoFit/>
          </a:bodyPr>
          <a:lstStyle/>
          <a:p>
            <a:pPr algn="l">
              <a:lnSpc>
                <a:spcPts val="1800"/>
              </a:lnSpc>
            </a:pPr>
            <a:r>
              <a:rPr sz="1200" b="0" i="0" u="none">
                <a:solidFill>
                  <a:srgbClr val="D1D5DB"/>
                </a:solidFill>
                <a:latin typeface="Plus Jakarta Sans"/>
              </a:rPr>
              <a:t>Người vận hành hệ thống, được truy cập folder Admin riêng biệt. Có quyền Override (Ghi đè).</a:t>
            </a:r>
          </a:p>
        </p:txBody>
      </p:sp>
      <p:sp>
        <p:nvSpPr>
          <p:cNvPr id="16" name="TextBox 15"/>
          <p:cNvSpPr txBox="1"/>
          <p:nvPr/>
        </p:nvSpPr>
        <p:spPr>
          <a:xfrm>
            <a:off x="1181100" y="3981450"/>
            <a:ext cx="3175062" cy="180975"/>
          </a:xfrm>
          <a:prstGeom prst="rect">
            <a:avLst/>
          </a:prstGeom>
          <a:noFill/>
        </p:spPr>
        <p:txBody>
          <a:bodyPr wrap="non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Read (R): Xem danh sách trang chủ.</a:t>
            </a:r>
          </a:p>
        </p:txBody>
      </p:sp>
      <p:sp>
        <p:nvSpPr>
          <p:cNvPr id="17" name="TextBox 16"/>
          <p:cNvSpPr txBox="1"/>
          <p:nvPr/>
        </p:nvSpPr>
        <p:spPr>
          <a:xfrm>
            <a:off x="1181100" y="4276725"/>
            <a:ext cx="3175062" cy="180975"/>
          </a:xfrm>
          <a:prstGeom prst="rect">
            <a:avLst/>
          </a:prstGeom>
          <a:noFill/>
        </p:spPr>
        <p:txBody>
          <a:bodyPr wrap="non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Read (R): Tra cứu công thức chi tiết.</a:t>
            </a:r>
          </a:p>
        </p:txBody>
      </p:sp>
      <p:sp>
        <p:nvSpPr>
          <p:cNvPr id="18" name="TextBox 17"/>
          <p:cNvSpPr txBox="1"/>
          <p:nvPr/>
        </p:nvSpPr>
        <p:spPr>
          <a:xfrm>
            <a:off x="1181100" y="457200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Thực hiện Create tài khoản mới (Register).</a:t>
            </a:r>
          </a:p>
        </p:txBody>
      </p:sp>
      <p:sp>
        <p:nvSpPr>
          <p:cNvPr id="19" name="TextBox 18"/>
          <p:cNvSpPr txBox="1"/>
          <p:nvPr/>
        </p:nvSpPr>
        <p:spPr>
          <a:xfrm>
            <a:off x="4940349" y="426720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Create (C): Đăng công thức, viết bình luận.</a:t>
            </a:r>
          </a:p>
        </p:txBody>
      </p:sp>
      <p:sp>
        <p:nvSpPr>
          <p:cNvPr id="20" name="TextBox 19"/>
          <p:cNvSpPr txBox="1"/>
          <p:nvPr/>
        </p:nvSpPr>
        <p:spPr>
          <a:xfrm>
            <a:off x="4940349" y="474345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Update (U): Chỉnh sửa công thức của mình.</a:t>
            </a:r>
          </a:p>
        </p:txBody>
      </p:sp>
      <p:sp>
        <p:nvSpPr>
          <p:cNvPr id="21" name="TextBox 20"/>
          <p:cNvSpPr txBox="1"/>
          <p:nvPr/>
        </p:nvSpPr>
        <p:spPr>
          <a:xfrm>
            <a:off x="4940349" y="521970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Delete (D): Xóa bài đăng hoặc bỏ Save.</a:t>
            </a:r>
          </a:p>
        </p:txBody>
      </p:sp>
      <p:sp>
        <p:nvSpPr>
          <p:cNvPr id="22" name="TextBox 21"/>
          <p:cNvSpPr txBox="1"/>
          <p:nvPr/>
        </p:nvSpPr>
        <p:spPr>
          <a:xfrm>
            <a:off x="8699599" y="398145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Create/Update/Delete hệ thống Danh mục.</a:t>
            </a:r>
          </a:p>
        </p:txBody>
      </p:sp>
      <p:sp>
        <p:nvSpPr>
          <p:cNvPr id="23" name="TextBox 22"/>
          <p:cNvSpPr txBox="1"/>
          <p:nvPr/>
        </p:nvSpPr>
        <p:spPr>
          <a:xfrm>
            <a:off x="8699599" y="445770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Kiểm duyệt nội dung (Approve/Delete posts).</a:t>
            </a:r>
          </a:p>
        </p:txBody>
      </p:sp>
      <p:sp>
        <p:nvSpPr>
          <p:cNvPr id="24" name="TextBox 23"/>
          <p:cNvSpPr txBox="1"/>
          <p:nvPr/>
        </p:nvSpPr>
        <p:spPr>
          <a:xfrm>
            <a:off x="8699599" y="4933950"/>
            <a:ext cx="2597199" cy="361950"/>
          </a:xfrm>
          <a:prstGeom prst="rect">
            <a:avLst/>
          </a:prstGeom>
          <a:noFill/>
        </p:spPr>
        <p:txBody>
          <a:bodyPr wrap="square" lIns="0" tIns="0" rIns="0" bIns="0" anchor="t">
            <a:spAutoFit/>
          </a:bodyPr>
          <a:lstStyle/>
          <a:p>
            <a:pPr algn="l"/>
            <a:r>
              <a:rPr sz="1125" b="0" i="0" u="none">
                <a:solidFill>
                  <a:srgbClr val="F8FAFC"/>
                </a:solidFill>
                <a:latin typeface="Plus Jakarta Sans"/>
              </a:rPr>
              <a:t>&gt;</a:t>
            </a:r>
            <a:r>
              <a:rPr sz="1125" b="0" i="0" u="none">
                <a:solidFill>
                  <a:srgbClr val="FDFBF7"/>
                </a:solidFill>
                <a:latin typeface="Plus Jakarta Sans"/>
              </a:rPr>
              <a:t> Khóa (Ban) tài khoản người dùng vi phạm.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TextBox 1"/>
          <p:cNvSpPr txBox="1"/>
          <p:nvPr/>
        </p:nvSpPr>
        <p:spPr>
          <a:xfrm>
            <a:off x="-381000" y="1633537"/>
            <a:ext cx="12954000" cy="171450"/>
          </a:xfrm>
          <a:prstGeom prst="rect">
            <a:avLst/>
          </a:prstGeom>
          <a:noFill/>
        </p:spPr>
        <p:txBody>
          <a:bodyPr wrap="none" lIns="0" tIns="0" rIns="0" bIns="0" anchor="t">
            <a:spAutoFit/>
          </a:bodyPr>
          <a:lstStyle/>
          <a:p>
            <a:pPr algn="ctr"/>
            <a:r>
              <a:rPr sz="1050" b="1" i="0" u="none">
                <a:solidFill>
                  <a:srgbClr val="D97706"/>
                </a:solidFill>
                <a:latin typeface="Plus Jakarta Sans"/>
              </a:rPr>
              <a:t>KIỂM THỬ (TESTING &amp; EVALUATION)</a:t>
            </a:r>
          </a:p>
        </p:txBody>
      </p:sp>
      <p:sp>
        <p:nvSpPr>
          <p:cNvPr id="3" name="TextBox 2"/>
          <p:cNvSpPr txBox="1"/>
          <p:nvPr/>
        </p:nvSpPr>
        <p:spPr>
          <a:xfrm>
            <a:off x="-381000" y="1957387"/>
            <a:ext cx="12954000" cy="514350"/>
          </a:xfrm>
          <a:prstGeom prst="rect">
            <a:avLst/>
          </a:prstGeom>
          <a:noFill/>
        </p:spPr>
        <p:txBody>
          <a:bodyPr wrap="none" lIns="0" tIns="0" rIns="0" bIns="0" anchor="t">
            <a:spAutoFit/>
          </a:bodyPr>
          <a:lstStyle/>
          <a:p>
            <a:pPr algn="ctr"/>
            <a:r>
              <a:rPr sz="3150" b="1" i="0" u="none">
                <a:solidFill>
                  <a:srgbClr val="064E3B"/>
                </a:solidFill>
                <a:latin typeface="Lora"/>
              </a:rPr>
              <a:t>Kết Quả Vận Hành Khởi Chạy</a:t>
            </a:r>
          </a:p>
        </p:txBody>
      </p:sp>
      <p:sp>
        <p:nvSpPr>
          <p:cNvPr id="4" name="TextBox 3"/>
          <p:cNvSpPr txBox="1"/>
          <p:nvPr/>
        </p:nvSpPr>
        <p:spPr>
          <a:xfrm>
            <a:off x="778668" y="3233737"/>
            <a:ext cx="1976437" cy="609600"/>
          </a:xfrm>
          <a:prstGeom prst="rect">
            <a:avLst/>
          </a:prstGeom>
          <a:noFill/>
        </p:spPr>
        <p:txBody>
          <a:bodyPr wrap="none" lIns="0" tIns="0" rIns="0" bIns="0" anchor="t">
            <a:spAutoFit/>
          </a:bodyPr>
          <a:lstStyle/>
          <a:p>
            <a:pPr algn="ctr">
              <a:lnSpc>
                <a:spcPts val="4800"/>
              </a:lnSpc>
            </a:pPr>
            <a:r>
              <a:rPr sz="4800" b="1" i="0" u="none">
                <a:solidFill>
                  <a:srgbClr val="D97706"/>
                </a:solidFill>
                <a:latin typeface="Lora"/>
              </a:rPr>
              <a:t>100%</a:t>
            </a:r>
          </a:p>
        </p:txBody>
      </p:sp>
      <p:sp>
        <p:nvSpPr>
          <p:cNvPr id="5" name="TextBox 4"/>
          <p:cNvSpPr txBox="1"/>
          <p:nvPr/>
        </p:nvSpPr>
        <p:spPr>
          <a:xfrm>
            <a:off x="935533" y="3995737"/>
            <a:ext cx="1662707" cy="238125"/>
          </a:xfrm>
          <a:prstGeom prst="rect">
            <a:avLst/>
          </a:prstGeom>
          <a:noFill/>
        </p:spPr>
        <p:txBody>
          <a:bodyPr wrap="none" lIns="0" tIns="0" rIns="0" bIns="0" anchor="t">
            <a:spAutoFit/>
          </a:bodyPr>
          <a:lstStyle/>
          <a:p>
            <a:pPr algn="ctr"/>
            <a:r>
              <a:rPr sz="1500" b="1" i="0" u="none">
                <a:solidFill>
                  <a:srgbClr val="292524"/>
                </a:solidFill>
                <a:latin typeface="Plus Jakarta Sans"/>
              </a:rPr>
              <a:t>Nghiệp Vụ Lõi</a:t>
            </a:r>
          </a:p>
        </p:txBody>
      </p:sp>
      <p:sp>
        <p:nvSpPr>
          <p:cNvPr id="6" name="TextBox 5"/>
          <p:cNvSpPr txBox="1"/>
          <p:nvPr/>
        </p:nvSpPr>
        <p:spPr>
          <a:xfrm>
            <a:off x="320278" y="4310062"/>
            <a:ext cx="2893218" cy="914400"/>
          </a:xfrm>
          <a:prstGeom prst="rect">
            <a:avLst/>
          </a:prstGeom>
          <a:noFill/>
        </p:spPr>
        <p:txBody>
          <a:bodyPr wrap="square" lIns="0" tIns="0" rIns="0" bIns="0" anchor="t">
            <a:spAutoFit/>
          </a:bodyPr>
          <a:lstStyle/>
          <a:p>
            <a:pPr algn="ctr">
              <a:lnSpc>
                <a:spcPts val="1800"/>
              </a:lnSpc>
            </a:pPr>
            <a:r>
              <a:rPr sz="1200" b="0" i="0" u="none">
                <a:solidFill>
                  <a:srgbClr val="57534E"/>
                </a:solidFill>
                <a:latin typeface="Plus Jakarta Sans"/>
              </a:rPr>
              <a:t>Hoàn thiện 5 module: Auth, CRUD, Search, Save, Comment hoạt động trơn tru không xảy ra Runtime Exception.</a:t>
            </a:r>
          </a:p>
        </p:txBody>
      </p:sp>
      <p:sp>
        <p:nvSpPr>
          <p:cNvPr id="7" name="TextBox 6"/>
          <p:cNvSpPr txBox="1"/>
          <p:nvPr/>
        </p:nvSpPr>
        <p:spPr>
          <a:xfrm>
            <a:off x="3957637" y="3233737"/>
            <a:ext cx="1390650" cy="609600"/>
          </a:xfrm>
          <a:prstGeom prst="rect">
            <a:avLst/>
          </a:prstGeom>
          <a:noFill/>
        </p:spPr>
        <p:txBody>
          <a:bodyPr wrap="none" lIns="0" tIns="0" rIns="0" bIns="0" anchor="t">
            <a:spAutoFit/>
          </a:bodyPr>
          <a:lstStyle/>
          <a:p>
            <a:pPr algn="ctr">
              <a:lnSpc>
                <a:spcPts val="4800"/>
              </a:lnSpc>
            </a:pPr>
            <a:r>
              <a:rPr sz="4800" b="1" i="0" u="none">
                <a:solidFill>
                  <a:srgbClr val="D97706"/>
                </a:solidFill>
                <a:latin typeface="Lora"/>
              </a:rPr>
              <a:t>&lt; 2s</a:t>
            </a:r>
          </a:p>
        </p:txBody>
      </p:sp>
      <p:sp>
        <p:nvSpPr>
          <p:cNvPr id="8" name="TextBox 7"/>
          <p:cNvSpPr txBox="1"/>
          <p:nvPr/>
        </p:nvSpPr>
        <p:spPr>
          <a:xfrm>
            <a:off x="3527821" y="3995737"/>
            <a:ext cx="2250281" cy="238125"/>
          </a:xfrm>
          <a:prstGeom prst="rect">
            <a:avLst/>
          </a:prstGeom>
          <a:noFill/>
        </p:spPr>
        <p:txBody>
          <a:bodyPr wrap="none" lIns="0" tIns="0" rIns="0" bIns="0" anchor="t">
            <a:spAutoFit/>
          </a:bodyPr>
          <a:lstStyle/>
          <a:p>
            <a:pPr algn="ctr"/>
            <a:r>
              <a:rPr sz="1500" b="1" i="0" u="none">
                <a:solidFill>
                  <a:srgbClr val="292524"/>
                </a:solidFill>
                <a:latin typeface="Plus Jakarta Sans"/>
              </a:rPr>
              <a:t>Thời Gian Phản Hồi</a:t>
            </a:r>
          </a:p>
        </p:txBody>
      </p:sp>
      <p:sp>
        <p:nvSpPr>
          <p:cNvPr id="9" name="TextBox 8"/>
          <p:cNvSpPr txBox="1"/>
          <p:nvPr/>
        </p:nvSpPr>
        <p:spPr>
          <a:xfrm>
            <a:off x="3206353" y="4310062"/>
            <a:ext cx="2893218" cy="914400"/>
          </a:xfrm>
          <a:prstGeom prst="rect">
            <a:avLst/>
          </a:prstGeom>
          <a:noFill/>
        </p:spPr>
        <p:txBody>
          <a:bodyPr wrap="square" lIns="0" tIns="0" rIns="0" bIns="0" anchor="t">
            <a:spAutoFit/>
          </a:bodyPr>
          <a:lstStyle/>
          <a:p>
            <a:pPr algn="ctr">
              <a:lnSpc>
                <a:spcPts val="1800"/>
              </a:lnSpc>
            </a:pPr>
            <a:r>
              <a:rPr sz="1200" b="0" i="0" u="none">
                <a:solidFill>
                  <a:srgbClr val="57534E"/>
                </a:solidFill>
                <a:latin typeface="Plus Jakarta Sans"/>
              </a:rPr>
              <a:t>Connection Pooling của ADO.NET tối ưu việc mở/đóng CSDL, giữ TTR (Time to Render) trên Localhost dưới 2 giây.</a:t>
            </a:r>
          </a:p>
        </p:txBody>
      </p:sp>
      <p:sp>
        <p:nvSpPr>
          <p:cNvPr id="10" name="TextBox 9"/>
          <p:cNvSpPr txBox="1"/>
          <p:nvPr/>
        </p:nvSpPr>
        <p:spPr>
          <a:xfrm>
            <a:off x="6711553" y="3233737"/>
            <a:ext cx="1654968" cy="609600"/>
          </a:xfrm>
          <a:prstGeom prst="rect">
            <a:avLst/>
          </a:prstGeom>
          <a:noFill/>
        </p:spPr>
        <p:txBody>
          <a:bodyPr wrap="none" lIns="0" tIns="0" rIns="0" bIns="0" anchor="t">
            <a:spAutoFit/>
          </a:bodyPr>
          <a:lstStyle/>
          <a:p>
            <a:pPr algn="ctr">
              <a:lnSpc>
                <a:spcPts val="4800"/>
              </a:lnSpc>
            </a:pPr>
            <a:r>
              <a:rPr sz="4800" b="1" i="0" u="none">
                <a:solidFill>
                  <a:srgbClr val="D97706"/>
                </a:solidFill>
                <a:latin typeface="Lora"/>
              </a:rPr>
              <a:t>Zero</a:t>
            </a:r>
          </a:p>
        </p:txBody>
      </p:sp>
      <p:sp>
        <p:nvSpPr>
          <p:cNvPr id="11" name="TextBox 10"/>
          <p:cNvSpPr txBox="1"/>
          <p:nvPr/>
        </p:nvSpPr>
        <p:spPr>
          <a:xfrm>
            <a:off x="6363890" y="3995737"/>
            <a:ext cx="2350293" cy="238125"/>
          </a:xfrm>
          <a:prstGeom prst="rect">
            <a:avLst/>
          </a:prstGeom>
          <a:noFill/>
        </p:spPr>
        <p:txBody>
          <a:bodyPr wrap="none" lIns="0" tIns="0" rIns="0" bIns="0" anchor="t">
            <a:spAutoFit/>
          </a:bodyPr>
          <a:lstStyle/>
          <a:p>
            <a:pPr algn="ctr"/>
            <a:r>
              <a:rPr sz="1500" b="1" i="0" u="none">
                <a:solidFill>
                  <a:srgbClr val="292524"/>
                </a:solidFill>
                <a:latin typeface="Plus Jakarta Sans"/>
              </a:rPr>
              <a:t>Lỗi Bảo Mật Cơ Bản</a:t>
            </a:r>
          </a:p>
        </p:txBody>
      </p:sp>
      <p:sp>
        <p:nvSpPr>
          <p:cNvPr id="12" name="TextBox 11"/>
          <p:cNvSpPr txBox="1"/>
          <p:nvPr/>
        </p:nvSpPr>
        <p:spPr>
          <a:xfrm>
            <a:off x="6092428" y="4310062"/>
            <a:ext cx="2893218" cy="914400"/>
          </a:xfrm>
          <a:prstGeom prst="rect">
            <a:avLst/>
          </a:prstGeom>
          <a:noFill/>
        </p:spPr>
        <p:txBody>
          <a:bodyPr wrap="square" lIns="0" tIns="0" rIns="0" bIns="0" anchor="t">
            <a:spAutoFit/>
          </a:bodyPr>
          <a:lstStyle/>
          <a:p>
            <a:pPr algn="ctr">
              <a:lnSpc>
                <a:spcPts val="1800"/>
              </a:lnSpc>
            </a:pPr>
            <a:r>
              <a:rPr sz="1200" b="0" i="0" u="none">
                <a:solidFill>
                  <a:srgbClr val="57534E"/>
                </a:solidFill>
                <a:latin typeface="Plus Jakarta Sans"/>
              </a:rPr>
              <a:t>Toàn bộ input từ textbox được validate qua Regex và truyền bằng Parameter, ngăn chặn thành công SQL Injection.</a:t>
            </a:r>
          </a:p>
        </p:txBody>
      </p:sp>
      <p:sp>
        <p:nvSpPr>
          <p:cNvPr id="13" name="TextBox 12"/>
          <p:cNvSpPr txBox="1"/>
          <p:nvPr/>
        </p:nvSpPr>
        <p:spPr>
          <a:xfrm>
            <a:off x="9478565" y="3233737"/>
            <a:ext cx="1893093" cy="609600"/>
          </a:xfrm>
          <a:prstGeom prst="rect">
            <a:avLst/>
          </a:prstGeom>
          <a:noFill/>
        </p:spPr>
        <p:txBody>
          <a:bodyPr wrap="none" lIns="0" tIns="0" rIns="0" bIns="0" anchor="t">
            <a:spAutoFit/>
          </a:bodyPr>
          <a:lstStyle/>
          <a:p>
            <a:pPr algn="ctr">
              <a:lnSpc>
                <a:spcPts val="4800"/>
              </a:lnSpc>
            </a:pPr>
            <a:r>
              <a:rPr sz="4800" b="1" i="0" u="none">
                <a:solidFill>
                  <a:srgbClr val="D97706"/>
                </a:solidFill>
                <a:latin typeface="Lora"/>
              </a:rPr>
              <a:t>Scale</a:t>
            </a:r>
          </a:p>
        </p:txBody>
      </p:sp>
      <p:sp>
        <p:nvSpPr>
          <p:cNvPr id="14" name="TextBox 13"/>
          <p:cNvSpPr txBox="1"/>
          <p:nvPr/>
        </p:nvSpPr>
        <p:spPr>
          <a:xfrm>
            <a:off x="9274968" y="3995737"/>
            <a:ext cx="2300287" cy="238125"/>
          </a:xfrm>
          <a:prstGeom prst="rect">
            <a:avLst/>
          </a:prstGeom>
          <a:noFill/>
        </p:spPr>
        <p:txBody>
          <a:bodyPr wrap="none" lIns="0" tIns="0" rIns="0" bIns="0" anchor="t">
            <a:spAutoFit/>
          </a:bodyPr>
          <a:lstStyle/>
          <a:p>
            <a:pPr algn="ctr"/>
            <a:r>
              <a:rPr sz="1500" b="1" i="0" u="none">
                <a:solidFill>
                  <a:srgbClr val="292524"/>
                </a:solidFill>
                <a:latin typeface="Plus Jakarta Sans"/>
              </a:rPr>
              <a:t>Khả Năng Mở Rộng</a:t>
            </a:r>
          </a:p>
        </p:txBody>
      </p:sp>
      <p:sp>
        <p:nvSpPr>
          <p:cNvPr id="15" name="TextBox 14"/>
          <p:cNvSpPr txBox="1"/>
          <p:nvPr/>
        </p:nvSpPr>
        <p:spPr>
          <a:xfrm>
            <a:off x="8978503" y="4310062"/>
            <a:ext cx="2893218" cy="914400"/>
          </a:xfrm>
          <a:prstGeom prst="rect">
            <a:avLst/>
          </a:prstGeom>
          <a:noFill/>
        </p:spPr>
        <p:txBody>
          <a:bodyPr wrap="square" lIns="0" tIns="0" rIns="0" bIns="0" anchor="t">
            <a:spAutoFit/>
          </a:bodyPr>
          <a:lstStyle/>
          <a:p>
            <a:pPr algn="ctr">
              <a:lnSpc>
                <a:spcPts val="1800"/>
              </a:lnSpc>
            </a:pPr>
            <a:r>
              <a:rPr sz="1200" b="0" i="0" u="none">
                <a:solidFill>
                  <a:srgbClr val="57534E"/>
                </a:solidFill>
                <a:latin typeface="Plus Jakarta Sans"/>
              </a:rPr>
              <a:t>Kiến trúc 3 lớp cho phép sau này dễ dàng đổi nền tảng UI (chuyển sang React/Angular) mà không phải viết lại lớp Logic.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BF7"/>
        </a:solidFill>
        <a:effectLst/>
      </p:bgPr>
    </p:bg>
    <p:spTree>
      <p:nvGrpSpPr>
        <p:cNvPr id="1" name=""/>
        <p:cNvGrpSpPr/>
        <p:nvPr/>
      </p:nvGrpSpPr>
      <p:grpSpPr>
        <a:xfrm>
          <a:off x="0" y="0"/>
          <a:ext cx="0" cy="0"/>
          <a:chOff x="0" y="0"/>
          <a:chExt cx="0" cy="0"/>
        </a:xfrm>
      </p:grpSpPr>
      <p:sp>
        <p:nvSpPr>
          <p:cNvPr id="2" name="Rectangle 1"/>
          <p:cNvSpPr/>
          <p:nvPr/>
        </p:nvSpPr>
        <p:spPr>
          <a:xfrm>
            <a:off x="0" y="0"/>
            <a:ext cx="5943600" cy="6858000"/>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43600" y="0"/>
            <a:ext cx="6248400" cy="6858000"/>
          </a:xfrm>
          <a:prstGeom prst="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82688" y="819150"/>
            <a:ext cx="4110245" cy="307777"/>
          </a:xfrm>
          <a:prstGeom prst="rect">
            <a:avLst/>
          </a:prstGeom>
          <a:noFill/>
        </p:spPr>
        <p:txBody>
          <a:bodyPr wrap="square" lIns="0" tIns="0" rIns="0" bIns="0" anchor="t">
            <a:spAutoFit/>
          </a:bodyPr>
          <a:lstStyle/>
          <a:p>
            <a:pPr algn="ctr"/>
            <a:r>
              <a:rPr lang="vi-VN" sz="2000" b="1" dirty="0">
                <a:solidFill>
                  <a:srgbClr val="FFFFFF"/>
                </a:solidFill>
                <a:latin typeface="Lora"/>
              </a:rPr>
              <a:t>KẾT QUẢ VẬN HÀNH</a:t>
            </a:r>
            <a:r>
              <a:rPr lang="vi-VN" sz="2000" b="1" i="0" u="none" dirty="0">
                <a:solidFill>
                  <a:srgbClr val="FFFFFF"/>
                </a:solidFill>
                <a:latin typeface="Lora"/>
              </a:rPr>
              <a:t>  </a:t>
            </a:r>
            <a:r>
              <a:rPr lang="vi-VN" sz="2000" b="1" dirty="0">
                <a:solidFill>
                  <a:srgbClr val="FFFFFF"/>
                </a:solidFill>
                <a:latin typeface="Lora"/>
              </a:rPr>
              <a:t>WEBSITE</a:t>
            </a:r>
            <a:endParaRPr sz="2000" b="1" i="0" u="none" dirty="0">
              <a:solidFill>
                <a:srgbClr val="FFFFFF"/>
              </a:solidFill>
              <a:latin typeface="Lora"/>
            </a:endParaRPr>
          </a:p>
        </p:txBody>
      </p:sp>
      <p:sp>
        <p:nvSpPr>
          <p:cNvPr id="8" name="TextBox 7"/>
          <p:cNvSpPr txBox="1"/>
          <p:nvPr/>
        </p:nvSpPr>
        <p:spPr>
          <a:xfrm>
            <a:off x="609600" y="819150"/>
            <a:ext cx="6200775" cy="342900"/>
          </a:xfrm>
          <a:prstGeom prst="rect">
            <a:avLst/>
          </a:prstGeom>
          <a:noFill/>
        </p:spPr>
        <p:txBody>
          <a:bodyPr wrap="none" lIns="0" tIns="0" rIns="0" bIns="0" anchor="t">
            <a:spAutoFit/>
          </a:bodyPr>
          <a:lstStyle/>
          <a:p>
            <a:pPr algn="l"/>
            <a:r>
              <a:rPr sz="2100" b="1" i="0" u="none">
                <a:solidFill>
                  <a:srgbClr val="064E3B"/>
                </a:solidFill>
                <a:latin typeface="Lora"/>
              </a:rPr>
              <a:t>Hạn Chế Hiện Tại</a:t>
            </a:r>
          </a:p>
        </p:txBody>
      </p:sp>
      <p:sp>
        <p:nvSpPr>
          <p:cNvPr id="9" name="TextBox 8"/>
          <p:cNvSpPr txBox="1"/>
          <p:nvPr/>
        </p:nvSpPr>
        <p:spPr>
          <a:xfrm>
            <a:off x="609600" y="3333750"/>
            <a:ext cx="6200775" cy="342900"/>
          </a:xfrm>
          <a:prstGeom prst="rect">
            <a:avLst/>
          </a:prstGeom>
          <a:noFill/>
        </p:spPr>
        <p:txBody>
          <a:bodyPr wrap="none" lIns="0" tIns="0" rIns="0" bIns="0" anchor="t">
            <a:spAutoFit/>
          </a:bodyPr>
          <a:lstStyle/>
          <a:p>
            <a:pPr algn="l"/>
            <a:r>
              <a:rPr sz="2100" b="1" i="0" u="none">
                <a:solidFill>
                  <a:srgbClr val="064E3B"/>
                </a:solidFill>
                <a:latin typeface="Lora"/>
              </a:rPr>
              <a:t>Hướng Phát Triển (Future Scope)</a:t>
            </a:r>
          </a:p>
        </p:txBody>
      </p:sp>
      <p:sp>
        <p:nvSpPr>
          <p:cNvPr id="10" name="TextBox 9"/>
          <p:cNvSpPr txBox="1"/>
          <p:nvPr/>
        </p:nvSpPr>
        <p:spPr>
          <a:xfrm>
            <a:off x="838200" y="1352550"/>
            <a:ext cx="4591050" cy="685800"/>
          </a:xfrm>
          <a:prstGeom prst="rect">
            <a:avLst/>
          </a:prstGeom>
          <a:noFill/>
        </p:spPr>
        <p:txBody>
          <a:bodyPr wrap="square" lIns="0" tIns="0" rIns="0" bIns="0" anchor="t">
            <a:spAutoFit/>
          </a:bodyPr>
          <a:lstStyle/>
          <a:p>
            <a:pPr algn="l">
              <a:lnSpc>
                <a:spcPts val="1800"/>
              </a:lnSpc>
            </a:pPr>
            <a:r>
              <a:rPr sz="1200" b="1" i="0" u="none">
                <a:solidFill>
                  <a:srgbClr val="EF4444"/>
                </a:solidFill>
                <a:latin typeface="Plus Jakarta Sans"/>
              </a:rPr>
              <a:t>- Về CodeBase: Sử dụng ASP.NET Web Forms đã cũ. Việc truy vấn Data thuần bằng String SQL còn rườm rà, dễ xảy ra lỗi Runtime Typo.</a:t>
            </a:r>
          </a:p>
        </p:txBody>
      </p:sp>
      <p:sp>
        <p:nvSpPr>
          <p:cNvPr id="11" name="TextBox 10"/>
          <p:cNvSpPr txBox="1"/>
          <p:nvPr/>
        </p:nvSpPr>
        <p:spPr>
          <a:xfrm>
            <a:off x="838200" y="1885950"/>
            <a:ext cx="4591050" cy="685800"/>
          </a:xfrm>
          <a:prstGeom prst="rect">
            <a:avLst/>
          </a:prstGeom>
          <a:noFill/>
        </p:spPr>
        <p:txBody>
          <a:bodyPr wrap="square" lIns="0" tIns="0" rIns="0" bIns="0" anchor="t">
            <a:spAutoFit/>
          </a:bodyPr>
          <a:lstStyle/>
          <a:p>
            <a:pPr algn="l">
              <a:lnSpc>
                <a:spcPts val="1800"/>
              </a:lnSpc>
            </a:pPr>
            <a:r>
              <a:rPr sz="1200" b="1" i="0" u="none" dirty="0">
                <a:solidFill>
                  <a:srgbClr val="EF4444"/>
                </a:solidFill>
                <a:latin typeface="Plus Jakarta Sans"/>
              </a:rPr>
              <a:t>- </a:t>
            </a:r>
            <a:r>
              <a:rPr sz="1200" b="1" i="0" u="none" dirty="0" err="1">
                <a:solidFill>
                  <a:srgbClr val="EF4444"/>
                </a:solidFill>
                <a:latin typeface="Plus Jakarta Sans"/>
              </a:rPr>
              <a:t>Về</a:t>
            </a:r>
            <a:r>
              <a:rPr sz="1200" b="1" i="0" u="none" dirty="0">
                <a:solidFill>
                  <a:srgbClr val="EF4444"/>
                </a:solidFill>
                <a:latin typeface="Plus Jakarta Sans"/>
              </a:rPr>
              <a:t> </a:t>
            </a:r>
            <a:r>
              <a:rPr sz="1200" b="1" i="0" u="none" dirty="0" err="1">
                <a:solidFill>
                  <a:srgbClr val="EF4444"/>
                </a:solidFill>
                <a:latin typeface="Plus Jakarta Sans"/>
              </a:rPr>
              <a:t>Tính</a:t>
            </a:r>
            <a:r>
              <a:rPr sz="1200" b="1" i="0" u="none" dirty="0">
                <a:solidFill>
                  <a:srgbClr val="EF4444"/>
                </a:solidFill>
                <a:latin typeface="Plus Jakarta Sans"/>
              </a:rPr>
              <a:t> </a:t>
            </a:r>
            <a:r>
              <a:rPr sz="1200" b="1" i="0" u="none" dirty="0" err="1">
                <a:solidFill>
                  <a:srgbClr val="EF4444"/>
                </a:solidFill>
                <a:latin typeface="Plus Jakarta Sans"/>
              </a:rPr>
              <a:t>Năng</a:t>
            </a:r>
            <a:r>
              <a:rPr sz="1200" b="1" i="0" u="none" dirty="0">
                <a:solidFill>
                  <a:srgbClr val="EF4444"/>
                </a:solidFill>
                <a:latin typeface="Plus Jakarta Sans"/>
              </a:rPr>
              <a:t>: </a:t>
            </a:r>
            <a:r>
              <a:rPr sz="1200" b="1" i="0" u="none" dirty="0" err="1">
                <a:solidFill>
                  <a:srgbClr val="EF4444"/>
                </a:solidFill>
                <a:latin typeface="Plus Jakarta Sans"/>
              </a:rPr>
              <a:t>Hệ</a:t>
            </a:r>
            <a:r>
              <a:rPr sz="1200" b="1" i="0" u="none" dirty="0">
                <a:solidFill>
                  <a:srgbClr val="EF4444"/>
                </a:solidFill>
                <a:latin typeface="Plus Jakarta Sans"/>
              </a:rPr>
              <a:t> </a:t>
            </a:r>
            <a:r>
              <a:rPr sz="1200" b="1" i="0" u="none" dirty="0" err="1">
                <a:solidFill>
                  <a:srgbClr val="EF4444"/>
                </a:solidFill>
                <a:latin typeface="Plus Jakarta Sans"/>
              </a:rPr>
              <a:t>thống</a:t>
            </a:r>
            <a:r>
              <a:rPr sz="1200" b="1" i="0" u="none" dirty="0">
                <a:solidFill>
                  <a:srgbClr val="EF4444"/>
                </a:solidFill>
                <a:latin typeface="Plus Jakarta Sans"/>
              </a:rPr>
              <a:t> </a:t>
            </a:r>
            <a:r>
              <a:rPr sz="1200" b="1" i="0" u="none" dirty="0" err="1">
                <a:solidFill>
                  <a:srgbClr val="EF4444"/>
                </a:solidFill>
                <a:latin typeface="Plus Jakarta Sans"/>
              </a:rPr>
              <a:t>tìm</a:t>
            </a:r>
            <a:r>
              <a:rPr sz="1200" b="1" i="0" u="none" dirty="0">
                <a:solidFill>
                  <a:srgbClr val="EF4444"/>
                </a:solidFill>
                <a:latin typeface="Plus Jakarta Sans"/>
              </a:rPr>
              <a:t> </a:t>
            </a:r>
            <a:r>
              <a:rPr sz="1200" b="1" i="0" u="none" dirty="0" err="1">
                <a:solidFill>
                  <a:srgbClr val="EF4444"/>
                </a:solidFill>
                <a:latin typeface="Plus Jakarta Sans"/>
              </a:rPr>
              <a:t>kiếm</a:t>
            </a:r>
            <a:r>
              <a:rPr sz="1200" b="1" i="0" u="none" dirty="0">
                <a:solidFill>
                  <a:srgbClr val="EF4444"/>
                </a:solidFill>
                <a:latin typeface="Plus Jakarta Sans"/>
              </a:rPr>
              <a:t> </a:t>
            </a:r>
            <a:r>
              <a:rPr sz="1200" b="1" i="0" u="none" dirty="0" err="1">
                <a:solidFill>
                  <a:srgbClr val="EF4444"/>
                </a:solidFill>
                <a:latin typeface="Plus Jakarta Sans"/>
              </a:rPr>
              <a:t>mới</a:t>
            </a:r>
            <a:r>
              <a:rPr sz="1200" b="1" i="0" u="none" dirty="0">
                <a:solidFill>
                  <a:srgbClr val="EF4444"/>
                </a:solidFill>
                <a:latin typeface="Plus Jakarta Sans"/>
              </a:rPr>
              <a:t> </a:t>
            </a:r>
            <a:r>
              <a:rPr sz="1200" b="1" i="0" u="none" dirty="0" err="1">
                <a:solidFill>
                  <a:srgbClr val="EF4444"/>
                </a:solidFill>
                <a:latin typeface="Plus Jakarta Sans"/>
              </a:rPr>
              <a:t>chỉ</a:t>
            </a:r>
            <a:r>
              <a:rPr sz="1200" b="1" i="0" u="none" dirty="0">
                <a:solidFill>
                  <a:srgbClr val="EF4444"/>
                </a:solidFill>
                <a:latin typeface="Plus Jakarta Sans"/>
              </a:rPr>
              <a:t> </a:t>
            </a:r>
            <a:r>
              <a:rPr sz="1200" b="1" i="0" u="none" dirty="0" err="1">
                <a:solidFill>
                  <a:srgbClr val="EF4444"/>
                </a:solidFill>
                <a:latin typeface="Plus Jakarta Sans"/>
              </a:rPr>
              <a:t>dừng</a:t>
            </a:r>
            <a:r>
              <a:rPr sz="1200" b="1" i="0" u="none" dirty="0">
                <a:solidFill>
                  <a:srgbClr val="EF4444"/>
                </a:solidFill>
                <a:latin typeface="Plus Jakarta Sans"/>
              </a:rPr>
              <a:t> ở </a:t>
            </a:r>
            <a:r>
              <a:rPr sz="1200" b="1" i="0" u="none" dirty="0" err="1">
                <a:solidFill>
                  <a:srgbClr val="EF4444"/>
                </a:solidFill>
                <a:latin typeface="Plus Jakarta Sans"/>
              </a:rPr>
              <a:t>mức</a:t>
            </a:r>
            <a:r>
              <a:rPr sz="1200" b="1" i="0" u="none" dirty="0">
                <a:solidFill>
                  <a:srgbClr val="EF4444"/>
                </a:solidFill>
                <a:latin typeface="Plus Jakarta Sans"/>
              </a:rPr>
              <a:t> </a:t>
            </a:r>
            <a:r>
              <a:rPr sz="1200" b="1" i="0" u="none" dirty="0" err="1">
                <a:solidFill>
                  <a:srgbClr val="EF4444"/>
                </a:solidFill>
                <a:latin typeface="Plus Jakarta Sans"/>
              </a:rPr>
              <a:t>độ</a:t>
            </a:r>
            <a:r>
              <a:rPr sz="1200" b="1" i="0" u="none" dirty="0">
                <a:solidFill>
                  <a:srgbClr val="EF4444"/>
                </a:solidFill>
                <a:latin typeface="Plus Jakarta Sans"/>
              </a:rPr>
              <a:t> Text-matching </a:t>
            </a:r>
            <a:r>
              <a:rPr sz="1200" b="1" i="0" u="none" dirty="0" err="1">
                <a:solidFill>
                  <a:srgbClr val="EF4444"/>
                </a:solidFill>
                <a:latin typeface="Plus Jakarta Sans"/>
              </a:rPr>
              <a:t>cơ</a:t>
            </a:r>
            <a:r>
              <a:rPr sz="1200" b="1" i="0" u="none" dirty="0">
                <a:solidFill>
                  <a:srgbClr val="EF4444"/>
                </a:solidFill>
                <a:latin typeface="Plus Jakarta Sans"/>
              </a:rPr>
              <a:t> </a:t>
            </a:r>
            <a:r>
              <a:rPr sz="1200" b="1" i="0" u="none" dirty="0" err="1">
                <a:solidFill>
                  <a:srgbClr val="EF4444"/>
                </a:solidFill>
                <a:latin typeface="Plus Jakarta Sans"/>
              </a:rPr>
              <a:t>bản</a:t>
            </a:r>
            <a:r>
              <a:rPr sz="1200" b="1" i="0" u="none" dirty="0">
                <a:solidFill>
                  <a:srgbClr val="EF4444"/>
                </a:solidFill>
                <a:latin typeface="Plus Jakarta Sans"/>
              </a:rPr>
              <a:t>, </a:t>
            </a:r>
            <a:r>
              <a:rPr sz="1200" b="1" i="0" u="none" dirty="0" err="1">
                <a:solidFill>
                  <a:srgbClr val="EF4444"/>
                </a:solidFill>
                <a:latin typeface="Plus Jakarta Sans"/>
              </a:rPr>
              <a:t>chưa</a:t>
            </a:r>
            <a:r>
              <a:rPr sz="1200" b="1" i="0" u="none" dirty="0">
                <a:solidFill>
                  <a:srgbClr val="EF4444"/>
                </a:solidFill>
                <a:latin typeface="Plus Jakarta Sans"/>
              </a:rPr>
              <a:t> </a:t>
            </a:r>
            <a:r>
              <a:rPr sz="1200" b="1" i="0" u="none" dirty="0" err="1">
                <a:solidFill>
                  <a:srgbClr val="EF4444"/>
                </a:solidFill>
                <a:latin typeface="Plus Jakarta Sans"/>
              </a:rPr>
              <a:t>có</a:t>
            </a:r>
            <a:r>
              <a:rPr sz="1200" b="1" i="0" u="none" dirty="0">
                <a:solidFill>
                  <a:srgbClr val="EF4444"/>
                </a:solidFill>
                <a:latin typeface="Plus Jakarta Sans"/>
              </a:rPr>
              <a:t> AI Recommender </a:t>
            </a:r>
            <a:r>
              <a:rPr sz="1200" b="1" i="0" u="none" dirty="0" err="1">
                <a:solidFill>
                  <a:srgbClr val="EF4444"/>
                </a:solidFill>
                <a:latin typeface="Plus Jakarta Sans"/>
              </a:rPr>
              <a:t>gợi</a:t>
            </a:r>
            <a:r>
              <a:rPr sz="1200" b="1" i="0" u="none" dirty="0">
                <a:solidFill>
                  <a:srgbClr val="EF4444"/>
                </a:solidFill>
                <a:latin typeface="Plus Jakarta Sans"/>
              </a:rPr>
              <a:t> ý </a:t>
            </a:r>
            <a:r>
              <a:rPr sz="1200" b="1" i="0" u="none" dirty="0" err="1">
                <a:solidFill>
                  <a:srgbClr val="EF4444"/>
                </a:solidFill>
                <a:latin typeface="Plus Jakarta Sans"/>
              </a:rPr>
              <a:t>món</a:t>
            </a:r>
            <a:r>
              <a:rPr sz="1200" b="1" i="0" u="none" dirty="0">
                <a:solidFill>
                  <a:srgbClr val="EF4444"/>
                </a:solidFill>
                <a:latin typeface="Plus Jakarta Sans"/>
              </a:rPr>
              <a:t> </a:t>
            </a:r>
            <a:r>
              <a:rPr sz="1200" b="1" i="0" u="none" dirty="0" err="1">
                <a:solidFill>
                  <a:srgbClr val="EF4444"/>
                </a:solidFill>
                <a:latin typeface="Plus Jakarta Sans"/>
              </a:rPr>
              <a:t>ăn</a:t>
            </a:r>
            <a:r>
              <a:rPr sz="1200" b="1" i="0" u="none" dirty="0">
                <a:solidFill>
                  <a:srgbClr val="EF4444"/>
                </a:solidFill>
                <a:latin typeface="Plus Jakarta Sans"/>
              </a:rPr>
              <a:t> </a:t>
            </a:r>
            <a:r>
              <a:rPr sz="1200" b="1" i="0" u="none" dirty="0" err="1">
                <a:solidFill>
                  <a:srgbClr val="EF4444"/>
                </a:solidFill>
                <a:latin typeface="Plus Jakarta Sans"/>
              </a:rPr>
              <a:t>theo</a:t>
            </a:r>
            <a:r>
              <a:rPr sz="1200" b="1" i="0" u="none" dirty="0">
                <a:solidFill>
                  <a:srgbClr val="EF4444"/>
                </a:solidFill>
                <a:latin typeface="Plus Jakarta Sans"/>
              </a:rPr>
              <a:t> </a:t>
            </a:r>
            <a:r>
              <a:rPr sz="1200" b="1" i="0" u="none" dirty="0" err="1">
                <a:solidFill>
                  <a:srgbClr val="EF4444"/>
                </a:solidFill>
                <a:latin typeface="Plus Jakarta Sans"/>
              </a:rPr>
              <a:t>sở</a:t>
            </a:r>
            <a:r>
              <a:rPr sz="1200" b="1" i="0" u="none" dirty="0">
                <a:solidFill>
                  <a:srgbClr val="EF4444"/>
                </a:solidFill>
                <a:latin typeface="Plus Jakarta Sans"/>
              </a:rPr>
              <a:t> </a:t>
            </a:r>
            <a:r>
              <a:rPr sz="1200" b="1" i="0" u="none" dirty="0" err="1">
                <a:solidFill>
                  <a:srgbClr val="EF4444"/>
                </a:solidFill>
                <a:latin typeface="Plus Jakarta Sans"/>
              </a:rPr>
              <a:t>thích</a:t>
            </a:r>
            <a:r>
              <a:rPr sz="1200" b="1" i="0" u="none" dirty="0">
                <a:solidFill>
                  <a:srgbClr val="EF4444"/>
                </a:solidFill>
                <a:latin typeface="Plus Jakarta Sans"/>
              </a:rPr>
              <a:t> (Personalization).</a:t>
            </a:r>
          </a:p>
        </p:txBody>
      </p:sp>
      <p:sp>
        <p:nvSpPr>
          <p:cNvPr id="12" name="TextBox 11"/>
          <p:cNvSpPr txBox="1"/>
          <p:nvPr/>
        </p:nvSpPr>
        <p:spPr>
          <a:xfrm>
            <a:off x="838200" y="3867150"/>
            <a:ext cx="4591050" cy="685800"/>
          </a:xfrm>
          <a:prstGeom prst="rect">
            <a:avLst/>
          </a:prstGeom>
          <a:noFill/>
        </p:spPr>
        <p:txBody>
          <a:bodyPr wrap="square" lIns="0" tIns="0" rIns="0" bIns="0" anchor="t">
            <a:spAutoFit/>
          </a:bodyPr>
          <a:lstStyle/>
          <a:p>
            <a:pPr algn="l">
              <a:lnSpc>
                <a:spcPts val="1800"/>
              </a:lnSpc>
            </a:pPr>
            <a:r>
              <a:rPr sz="1200" b="1" i="0" u="none">
                <a:solidFill>
                  <a:srgbClr val="0F172A"/>
                </a:solidFill>
                <a:latin typeface="Plus Jakarta Sans"/>
              </a:rPr>
              <a:t>+ Nâng cấp Framework: Chuyển dịch toàn bộ dự án lên ASP.NET Core MVC (Web API) và sử dụng Entity Framework (EF Core) để Mapping đối tượng.</a:t>
            </a:r>
          </a:p>
        </p:txBody>
      </p:sp>
      <p:sp>
        <p:nvSpPr>
          <p:cNvPr id="13" name="TextBox 12"/>
          <p:cNvSpPr txBox="1"/>
          <p:nvPr/>
        </p:nvSpPr>
        <p:spPr>
          <a:xfrm>
            <a:off x="838200" y="4667250"/>
            <a:ext cx="4591050" cy="457200"/>
          </a:xfrm>
          <a:prstGeom prst="rect">
            <a:avLst/>
          </a:prstGeom>
          <a:noFill/>
        </p:spPr>
        <p:txBody>
          <a:bodyPr wrap="square" lIns="0" tIns="0" rIns="0" bIns="0" anchor="t">
            <a:spAutoFit/>
          </a:bodyPr>
          <a:lstStyle/>
          <a:p>
            <a:pPr algn="l">
              <a:lnSpc>
                <a:spcPts val="1800"/>
              </a:lnSpc>
            </a:pPr>
            <a:r>
              <a:rPr sz="1200" b="1" i="0" u="none">
                <a:solidFill>
                  <a:srgbClr val="0F172A"/>
                </a:solidFill>
                <a:latin typeface="Plus Jakarta Sans"/>
              </a:rPr>
              <a:t>+ Bảo mật tân tiến: Thay thế Session state bằng chuẩn JSON Web Token (JWT) để hỗ trợ phân quyền xuyên nền tảng.</a:t>
            </a:r>
          </a:p>
        </p:txBody>
      </p:sp>
      <p:sp>
        <p:nvSpPr>
          <p:cNvPr id="14" name="TextBox 13"/>
          <p:cNvSpPr txBox="1"/>
          <p:nvPr/>
        </p:nvSpPr>
        <p:spPr>
          <a:xfrm>
            <a:off x="838200" y="5238750"/>
            <a:ext cx="4591050" cy="685800"/>
          </a:xfrm>
          <a:prstGeom prst="rect">
            <a:avLst/>
          </a:prstGeom>
          <a:noFill/>
        </p:spPr>
        <p:txBody>
          <a:bodyPr wrap="square" lIns="0" tIns="0" rIns="0" bIns="0" anchor="t">
            <a:spAutoFit/>
          </a:bodyPr>
          <a:lstStyle/>
          <a:p>
            <a:pPr algn="l">
              <a:lnSpc>
                <a:spcPts val="1800"/>
              </a:lnSpc>
            </a:pPr>
            <a:r>
              <a:rPr sz="1200" b="1" i="0" u="none">
                <a:solidFill>
                  <a:srgbClr val="0F172A"/>
                </a:solidFill>
                <a:latin typeface="Plus Jakarta Sans"/>
              </a:rPr>
              <a:t>+ Triển khai (Deployment): Triển khai (Host) hệ thống lên môi trường thực tế qua Cloud như Microsoft Azure hoặc AWS để phục vụ User thực.</a:t>
            </a:r>
          </a:p>
        </p:txBody>
      </p:sp>
      <p:sp>
        <p:nvSpPr>
          <p:cNvPr id="18" name="TextBox 17">
            <a:extLst>
              <a:ext uri="{FF2B5EF4-FFF2-40B4-BE49-F238E27FC236}">
                <a16:creationId xmlns:a16="http://schemas.microsoft.com/office/drawing/2014/main" id="{066B29E4-23AB-8E0E-BB7D-24B516A67934}"/>
              </a:ext>
            </a:extLst>
          </p:cNvPr>
          <p:cNvSpPr txBox="1"/>
          <p:nvPr/>
        </p:nvSpPr>
        <p:spPr>
          <a:xfrm>
            <a:off x="838200" y="2571750"/>
            <a:ext cx="4591050" cy="213776"/>
          </a:xfrm>
          <a:prstGeom prst="rect">
            <a:avLst/>
          </a:prstGeom>
          <a:noFill/>
        </p:spPr>
        <p:txBody>
          <a:bodyPr wrap="square" lIns="0" tIns="0" rIns="0" bIns="0" anchor="t">
            <a:spAutoFit/>
          </a:bodyPr>
          <a:lstStyle/>
          <a:p>
            <a:pPr algn="l">
              <a:lnSpc>
                <a:spcPts val="1800"/>
              </a:lnSpc>
            </a:pPr>
            <a:r>
              <a:rPr sz="1200" b="1" i="0" u="none" dirty="0">
                <a:solidFill>
                  <a:srgbClr val="EF4444"/>
                </a:solidFill>
                <a:latin typeface="Plus Jakarta Sans"/>
              </a:rPr>
              <a:t>- </a:t>
            </a:r>
            <a:r>
              <a:rPr lang="vi-VN" sz="1200" b="1" dirty="0">
                <a:solidFill>
                  <a:srgbClr val="EF4444"/>
                </a:solidFill>
                <a:latin typeface="Plus Jakarta Sans"/>
              </a:rPr>
              <a:t>Chưa có phần quyền Admin quản lý và phê duyệt tài khoản,nội dung</a:t>
            </a:r>
            <a:r>
              <a:rPr sz="1200" b="1" i="0" u="none" dirty="0">
                <a:solidFill>
                  <a:srgbClr val="EF4444"/>
                </a:solidFill>
                <a:latin typeface="Plus Jakarta Sans"/>
              </a:rPr>
              <a:t>.</a:t>
            </a:r>
          </a:p>
        </p:txBody>
      </p:sp>
      <p:sp>
        <p:nvSpPr>
          <p:cNvPr id="20" name="TextBox 19">
            <a:extLst>
              <a:ext uri="{FF2B5EF4-FFF2-40B4-BE49-F238E27FC236}">
                <a16:creationId xmlns:a16="http://schemas.microsoft.com/office/drawing/2014/main" id="{3622B3D0-AAE8-C3EB-C939-A940B2D55804}"/>
              </a:ext>
            </a:extLst>
          </p:cNvPr>
          <p:cNvSpPr txBox="1"/>
          <p:nvPr/>
        </p:nvSpPr>
        <p:spPr>
          <a:xfrm>
            <a:off x="838200" y="2899826"/>
            <a:ext cx="4591050" cy="444609"/>
          </a:xfrm>
          <a:prstGeom prst="rect">
            <a:avLst/>
          </a:prstGeom>
          <a:noFill/>
        </p:spPr>
        <p:txBody>
          <a:bodyPr wrap="square" lIns="0" tIns="0" rIns="0" bIns="0" anchor="t">
            <a:spAutoFit/>
          </a:bodyPr>
          <a:lstStyle/>
          <a:p>
            <a:pPr algn="l">
              <a:lnSpc>
                <a:spcPts val="1800"/>
              </a:lnSpc>
            </a:pPr>
            <a:r>
              <a:rPr sz="1200" b="1" i="0" u="none" dirty="0">
                <a:solidFill>
                  <a:srgbClr val="EF4444"/>
                </a:solidFill>
                <a:latin typeface="Plus Jakarta Sans"/>
              </a:rPr>
              <a:t>- </a:t>
            </a:r>
            <a:r>
              <a:rPr lang="vi-VN" sz="1200" b="1" dirty="0">
                <a:solidFill>
                  <a:srgbClr val="EF4444"/>
                </a:solidFill>
                <a:latin typeface="Plus Jakarta Sans"/>
              </a:rPr>
              <a:t>Chưa có chức năng liên kết với các phương tiện media/truyền thông mạng xã hội</a:t>
            </a:r>
            <a:r>
              <a:rPr sz="1200" b="1" i="0" u="none" dirty="0">
                <a:solidFill>
                  <a:srgbClr val="EF4444"/>
                </a:solidFill>
                <a:latin typeface="Plus Jakarta Sans"/>
              </a:rPr>
              <a:t>.</a:t>
            </a:r>
          </a:p>
        </p:txBody>
      </p:sp>
      <p:pic>
        <p:nvPicPr>
          <p:cNvPr id="4" name="Chuyên đề ASP.NET -website chia sẻ cong thuc nau an (2)">
            <a:hlinkClick r:id="" action="ppaction://media"/>
            <a:extLst>
              <a:ext uri="{FF2B5EF4-FFF2-40B4-BE49-F238E27FC236}">
                <a16:creationId xmlns:a16="http://schemas.microsoft.com/office/drawing/2014/main" id="{254519A6-2E97-3463-2623-CBD5DB7F6A4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019800" y="1352550"/>
            <a:ext cx="6096000" cy="38082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62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B4CC1D-93F2-6002-EE11-CCE76A64B6DF}"/>
              </a:ext>
            </a:extLst>
          </p:cNvPr>
          <p:cNvSpPr/>
          <p:nvPr/>
        </p:nvSpPr>
        <p:spPr>
          <a:xfrm>
            <a:off x="0" y="0"/>
            <a:ext cx="12192000" cy="6858000"/>
          </a:xfrm>
          <a:prstGeom prst="rect">
            <a:avLst/>
          </a:prstGeom>
          <a:solidFill>
            <a:srgbClr val="064E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BCCC4CA6-D9C3-5E0C-8D68-8CC200AE37DE}"/>
              </a:ext>
            </a:extLst>
          </p:cNvPr>
          <p:cNvSpPr/>
          <p:nvPr/>
        </p:nvSpPr>
        <p:spPr>
          <a:xfrm>
            <a:off x="2489200" y="1286635"/>
            <a:ext cx="7213600" cy="38946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vi-VN" sz="2800" b="1" dirty="0">
                <a:solidFill>
                  <a:schemeClr val="tx1"/>
                </a:solidFill>
                <a:latin typeface="Lora" pitchFamily="2" charset="0"/>
              </a:rPr>
              <a:t>Trân trọng cảm ơn </a:t>
            </a:r>
            <a:r>
              <a:rPr lang="vi-VN" sz="2800" b="1" dirty="0">
                <a:solidFill>
                  <a:schemeClr val="tx1"/>
                </a:solidFill>
                <a:latin typeface="Plus Jakarta Sans"/>
              </a:rPr>
              <a:t>quý thầy cô</a:t>
            </a:r>
            <a:r>
              <a:rPr lang="vi-VN" sz="2800" b="1" dirty="0">
                <a:solidFill>
                  <a:schemeClr val="tx1"/>
                </a:solidFill>
                <a:latin typeface="Lora" pitchFamily="2" charset="0"/>
              </a:rPr>
              <a:t> đã dành thời gian xem bài thuyết trình chuyên đề ASP.NET-Website chia se công thức</a:t>
            </a:r>
          </a:p>
          <a:p>
            <a:pPr algn="ctr"/>
            <a:r>
              <a:rPr lang="vi-VN" sz="2800" b="1" dirty="0">
                <a:solidFill>
                  <a:schemeClr val="tx1"/>
                </a:solidFill>
                <a:latin typeface="Lora" pitchFamily="2" charset="0"/>
              </a:rPr>
              <a:t> nấu ăn của em!</a:t>
            </a:r>
          </a:p>
          <a:p>
            <a:pPr algn="ctr"/>
            <a:endParaRPr lang="en-US" dirty="0"/>
          </a:p>
        </p:txBody>
      </p:sp>
    </p:spTree>
    <p:extLst>
      <p:ext uri="{BB962C8B-B14F-4D97-AF65-F5344CB8AC3E}">
        <p14:creationId xmlns:p14="http://schemas.microsoft.com/office/powerpoint/2010/main" val="92943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TotalTime>
  <Words>1847</Words>
  <Application>Microsoft Office PowerPoint</Application>
  <PresentationFormat>Widescreen</PresentationFormat>
  <Paragraphs>141</Paragraphs>
  <Slides>13</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Plus Jakarta Sans</vt:lpstr>
      <vt:lpstr>Calibri</vt:lpstr>
      <vt:lpstr>Lora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Phung Vo</cp:lastModifiedBy>
  <cp:revision>5</cp:revision>
  <dcterms:created xsi:type="dcterms:W3CDTF">2013-01-27T09:14:16Z</dcterms:created>
  <dcterms:modified xsi:type="dcterms:W3CDTF">2026-09-23T15:50:57Z</dcterms:modified>
  <cp:category/>
</cp:coreProperties>
</file>